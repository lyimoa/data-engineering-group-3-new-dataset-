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A2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F1A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38251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3 · DSAI 6226 · Data Engineering and Analytics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A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rgbClr val="1A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Title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DSAI 6226 · Data Engineering and Analytics</a:t>
            </a:r>
            <a:endParaRPr lang="en-US" sz="9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502920" y="1097280"/>
            <a:ext cx="11155680" cy="5349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DSAI 6226 · Data Engineering and Analytics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Labs 6–9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23317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Quality, Analytics, ML Readiness &amp; Optimisation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3154680"/>
            <a:ext cx="128016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42900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healthcare admissions pipeline, built on evidence: 5 quality checks that fire and quarantine, a served mart with provable freshness, an ML feature table with a documented leakage audit, and a pipeline we profiled before touching a single line.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5120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3 — Allen L. Lyimo · Asina Mchomvu · Frank Mtimbili · Claverfred Mhidze · Kelvin Mwanga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5532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MSc. Data Science &amp; AI · NM-AIST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Walk Through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41732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F4F6F9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527048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CSV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55,500 rows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3736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423160" y="141732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F4F6F9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23160" y="1527048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423160" y="187452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quality checks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quarantine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114800" y="173736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43400" y="141732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F4F6F9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1527048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43400" y="187452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173736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63640" y="141732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1A2B4C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1527048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63640" y="187452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6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 +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6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7955280" y="173736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183880" y="141732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1A2B4C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83880" y="1527048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PREP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183880" y="187452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6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+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6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+ audit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9875520" y="173736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104120" y="141732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1A2B4C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104120" y="1527048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OPTIMISE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104120" y="187452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6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profile, fix,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6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2920" y="2971800"/>
            <a:ext cx="868680" cy="566928"/>
          </a:xfrm>
          <a:prstGeom prst="roundRect">
            <a:avLst>
              <a:gd name="adj" fmla="val 9677"/>
            </a:avLst>
          </a:prstGeom>
          <a:solidFill>
            <a:srgbClr val="C9A227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2971800"/>
            <a:ext cx="868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554480" y="297180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&amp; Governance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94960" y="2971800"/>
            <a:ext cx="6263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checks fire, quarantine proof, lineage, PDPA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02920" y="3685032"/>
            <a:ext cx="868680" cy="566928"/>
          </a:xfrm>
          <a:prstGeom prst="roundRect">
            <a:avLst>
              <a:gd name="adj" fmla="val 9677"/>
            </a:avLst>
          </a:prstGeom>
          <a:solidFill>
            <a:srgbClr val="C9A227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3685032"/>
            <a:ext cx="868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7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554480" y="3685032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From the Pipeline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94960" y="3685032"/>
            <a:ext cx="6263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mart, metrics, live freshness demo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02920" y="4398264"/>
            <a:ext cx="868680" cy="566928"/>
          </a:xfrm>
          <a:prstGeom prst="roundRect">
            <a:avLst>
              <a:gd name="adj" fmla="val 9677"/>
            </a:avLst>
          </a:prstGeom>
          <a:solidFill>
            <a:srgbClr val="C9A227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" y="4398264"/>
            <a:ext cx="868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8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554480" y="4398264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Data for ML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394960" y="4398264"/>
            <a:ext cx="6263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features, leakage audit, split, datasheet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502920" y="5111496"/>
            <a:ext cx="868680" cy="566928"/>
          </a:xfrm>
          <a:prstGeom prst="roundRect">
            <a:avLst>
              <a:gd name="adj" fmla="val 9677"/>
            </a:avLst>
          </a:prstGeom>
          <a:solidFill>
            <a:srgbClr val="C9A227"/>
          </a:solidFill>
          <a:ln/>
        </p:spPr>
      </p:sp>
      <p:sp>
        <p:nvSpPr>
          <p:cNvPr id="39" name="Text 37"/>
          <p:cNvSpPr/>
          <p:nvPr/>
        </p:nvSpPr>
        <p:spPr>
          <a:xfrm>
            <a:off x="502920" y="5111496"/>
            <a:ext cx="868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9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554480" y="5111496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&amp; Performance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394960" y="5111496"/>
            <a:ext cx="6263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→ real bottleneck → fix → proof</a:t>
            </a:r>
            <a:endParaRPr lang="en-US" sz="1250" dirty="0"/>
          </a:p>
        </p:txBody>
      </p:sp>
      <p:sp>
        <p:nvSpPr>
          <p:cNvPr id="42" name="Text 2"/>
          <p:cNvSpPr/>
          <p:nvPr>
            <p:ph idx="103" type="body" hasCustomPrompt="1"/>
          </p:nvPr>
        </p:nvSpPr>
        <p:spPr>
          <a:xfrm>
            <a:off x="502920" y="1097280"/>
            <a:ext cx="11155680" cy="5349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31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6 · DATA QUALITY &amp; GOVERNANCE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Executable Checks, Not a One-Time Look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14300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 had one validity check. We extended ingest.py to five checks across validity, completeness and uniqueness — and changed failure behavior from silently dropping rows to quarantining them with a reason.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37360"/>
          <a:ext cx="11155680" cy="2377440"/>
        </p:xfrm>
        <a:graphic>
          <a:graphicData uri="http://schemas.openxmlformats.org/drawingml/2006/table">
            <a:tbl>
              <a:tblPr/>
              <a:tblGrid>
                <a:gridCol w="640080"/>
                <a:gridCol w="3840480"/>
                <a:gridCol w="1920240"/>
                <a:gridCol w="475488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 on Real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C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Billing Amount ≥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 rows quarantined (negative_billing_amount)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between 0–120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rows — clean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Discharge Date ≥ Admission Date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rows — clean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Name, Condition, Billing not null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Completeness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rows — clean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exact duplicate rows (row-hash)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Uniqueness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532 rows quarantined (duplicate_row)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4434840"/>
            <a:ext cx="11155680" cy="146304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457200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 the checks actually fire, not just look correct on paper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489204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2–4 catch nothing on our clean 55,500-row dataset. test_quarantine.py injects 3 deliberately bad rows (implausible age, discharge before admission, missing Name) through the same validate() used in production — all 3 correctly quarantined, kept in the repo as presentation evidence.</a:t>
            </a:r>
            <a:endParaRPr lang="en-US" sz="1250" dirty="0"/>
          </a:p>
        </p:txBody>
      </p:sp>
      <p:sp>
        <p:nvSpPr>
          <p:cNvPr id="9" name="Text 2"/>
          <p:cNvSpPr/>
          <p:nvPr>
            <p:ph idx="103" type="body" hasCustomPrompt="1"/>
          </p:nvPr>
        </p:nvSpPr>
        <p:spPr>
          <a:xfrm>
            <a:off x="502920" y="1097280"/>
            <a:ext cx="11155680" cy="5349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31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6 · DATA QUALITY &amp; GOVERNANCE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Silently Lost — Every Row Traceable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2011680" cy="868680"/>
          </a:xfrm>
          <a:prstGeom prst="roundRect">
            <a:avLst>
              <a:gd name="adj" fmla="val 7368"/>
            </a:avLst>
          </a:prstGeom>
          <a:solidFill>
            <a:srgbClr val="1A2B4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280160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CSV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55,500 rows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2514600" y="1508760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70632" y="1280160"/>
            <a:ext cx="2011680" cy="868680"/>
          </a:xfrm>
          <a:prstGeom prst="roundRect">
            <a:avLst>
              <a:gd name="adj" fmla="val 7368"/>
            </a:avLst>
          </a:prstGeom>
          <a:solidFill>
            <a:srgbClr val="1A2B4C"/>
          </a:solidFill>
          <a:ln/>
        </p:spPr>
      </p:sp>
      <p:sp>
        <p:nvSpPr>
          <p:cNvPr id="8" name="Text 6"/>
          <p:cNvSpPr/>
          <p:nvPr/>
        </p:nvSpPr>
        <p:spPr>
          <a:xfrm>
            <a:off x="2770632" y="1280160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validate()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checks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4782312" y="1508760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38344" y="1280160"/>
            <a:ext cx="2011680" cy="868680"/>
          </a:xfrm>
          <a:prstGeom prst="roundRect">
            <a:avLst>
              <a:gd name="adj" fmla="val 7368"/>
            </a:avLst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5038344" y="1280160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quarantine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(reason code)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050024" y="1508760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06056" y="1280160"/>
            <a:ext cx="2011680" cy="868680"/>
          </a:xfrm>
          <a:prstGeom prst="roundRect">
            <a:avLst>
              <a:gd name="adj" fmla="val 7368"/>
            </a:avLst>
          </a:prstGeom>
          <a:solidFill>
            <a:srgbClr val="1A2B4C"/>
          </a:solidFill>
          <a:ln/>
        </p:spPr>
      </p:sp>
      <p:sp>
        <p:nvSpPr>
          <p:cNvPr id="14" name="Text 12"/>
          <p:cNvSpPr/>
          <p:nvPr/>
        </p:nvSpPr>
        <p:spPr>
          <a:xfrm>
            <a:off x="7306056" y="1280160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54,860 clean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9317736" y="1508760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573768" y="1280160"/>
            <a:ext cx="2011680" cy="868680"/>
          </a:xfrm>
          <a:prstGeom prst="roundRect">
            <a:avLst>
              <a:gd name="adj" fmla="val 7368"/>
            </a:avLst>
          </a:prstGeom>
          <a:solidFill>
            <a:srgbClr val="1A2B4C"/>
          </a:solidFill>
          <a:ln/>
        </p:spPr>
      </p:sp>
      <p:sp>
        <p:nvSpPr>
          <p:cNvPr id="17" name="Text 15"/>
          <p:cNvSpPr/>
          <p:nvPr/>
        </p:nvSpPr>
        <p:spPr>
          <a:xfrm>
            <a:off x="9573768" y="1280160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analytics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2920" y="237744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two pipeline runs the quarantine table holds 1,283 rows (216 negative-billing, 1,064 duplicates, 3 injected test rows) — safe to accumulate because ingestion is idempotent (row-hash key, INSERT OR REPLACE). Any published number can be traced hop by hop back to its raw source row.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3246120"/>
            <a:ext cx="11155680" cy="2651760"/>
          </a:xfrm>
          <a:prstGeom prst="roundRect">
            <a:avLst>
              <a:gd name="adj" fmla="val 2069"/>
            </a:avLst>
          </a:prstGeom>
          <a:solidFill>
            <a:srgbClr val="F4F6F9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40156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PDPA (Tanzania Data Protection Act) — Governance Note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" y="3749040"/>
            <a:ext cx="10607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&amp; indirectly identifying fields: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(direct); Age, Gender, Medical Condition, Hospital, Doctor (indirect).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Lawful basis: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synthetic, publicly published Kaggle data — not real patient records; use limited to DSAI 6226 coursework under academic/legitimate interest.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Minimization: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personal fields added beyond the raw file; quarantine stores full rows only for pipeline debugging, not secondary use.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this were real data: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Name/medical fields restricted to authorized members, data kept in-country, and a specific retention period stated.</a:t>
            </a:r>
            <a:endParaRPr lang="en-US" sz="1200" dirty="0"/>
          </a:p>
        </p:txBody>
      </p:sp>
      <p:sp>
        <p:nvSpPr>
          <p:cNvPr id="22" name="Text 2"/>
          <p:cNvSpPr/>
          <p:nvPr>
            <p:ph idx="103" type="body" hasCustomPrompt="1"/>
          </p:nvPr>
        </p:nvSpPr>
        <p:spPr>
          <a:xfrm>
            <a:off x="502920" y="1097280"/>
            <a:ext cx="11155680" cy="5349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31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7 · ANALYTICS FROM THE PIPELINE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Mart, Metrics Defined Once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143000"/>
            <a:ext cx="5486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build_marts.py aggregates the clean admissions table into marts_admissions_daily (1,827 daily rows), stamped with refreshed_at on every build. metrics.md documents both published numbers — formula, grain, filters, owner — so the dashboard never redefines them independently.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3291840"/>
            <a:ext cx="2606040" cy="1005840"/>
          </a:xfrm>
          <a:prstGeom prst="roundRect">
            <a:avLst>
              <a:gd name="adj" fmla="val 5455"/>
            </a:avLst>
          </a:prstGeom>
          <a:solidFill>
            <a:srgbClr val="F4F6F9"/>
          </a:solidFill>
          <a:ln w="19050">
            <a:solidFill>
              <a:srgbClr val="1A2B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3832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ADMISSIONS (ALL DAYS)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36576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54,860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246120" y="3291840"/>
            <a:ext cx="2606040" cy="1005840"/>
          </a:xfrm>
          <a:prstGeom prst="roundRect">
            <a:avLst>
              <a:gd name="adj" fmla="val 5455"/>
            </a:avLst>
          </a:prstGeom>
          <a:solidFill>
            <a:srgbClr val="F4F6F9"/>
          </a:solidFill>
          <a:ln w="19050">
            <a:solidFill>
              <a:srgbClr val="1A2B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33832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BILLING AMOUNT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0" y="36576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$25,596.95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02920" y="4434840"/>
            <a:ext cx="2606040" cy="1005840"/>
          </a:xfrm>
          <a:prstGeom prst="roundRect">
            <a:avLst>
              <a:gd name="adj" fmla="val 5455"/>
            </a:avLst>
          </a:prstGeom>
          <a:solidFill>
            <a:srgbClr val="F4F6F9"/>
          </a:solidFill>
          <a:ln w="19050">
            <a:solidFill>
              <a:srgbClr val="1A2B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5262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48006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admission date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246120" y="4434840"/>
            <a:ext cx="2606040" cy="1005840"/>
          </a:xfrm>
          <a:prstGeom prst="roundRect">
            <a:avLst>
              <a:gd name="adj" fmla="val 5455"/>
            </a:avLst>
          </a:prstGeom>
          <a:solidFill>
            <a:srgbClr val="F4F6F9"/>
          </a:solidFill>
          <a:ln w="19050">
            <a:solidFill>
              <a:srgbClr val="1A2B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45262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FRESHNESS PROMISE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83280" y="48006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24 hours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63640" y="114300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1A2B4C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13716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consumer view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37960" y="182880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6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dashboard.py (Streamlit) reads only from marts_admissions_daily — never raw data.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6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KPI cards + two daily trend charts, all sourced from the one mart.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6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freshness label computed from MAX(refreshed_at) vs now — never hardcoded.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6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demo: backdate 30h → label flips green to red STALE; rerun pipeline → restores. Proves the mechanism reacts, not just looks fine.</a:t>
            </a:r>
            <a:endParaRPr lang="en-US" sz="1300" dirty="0"/>
          </a:p>
        </p:txBody>
      </p:sp>
      <p:sp>
        <p:nvSpPr>
          <p:cNvPr id="20" name="Text 2"/>
          <p:cNvSpPr/>
          <p:nvPr>
            <p:ph idx="103" type="body" hasCustomPrompt="1"/>
          </p:nvPr>
        </p:nvSpPr>
        <p:spPr>
          <a:xfrm>
            <a:off x="502920" y="1097280"/>
            <a:ext cx="11155680" cy="5349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31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7 · ANALYTICS FROM THE PIPELINE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Demo: Freshness Is Provable, Not Decorative</a:t>
            </a:r>
            <a:endParaRPr lang="en-US" sz="3000" dirty="0"/>
          </a:p>
        </p:txBody>
      </p:sp>
      <p:pic>
        <p:nvPicPr>
          <p:cNvPr id="4" name="Image 0" descr="lab7_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188720"/>
            <a:ext cx="7589520" cy="3886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75320" y="1188720"/>
            <a:ext cx="3383280" cy="3886200"/>
          </a:xfrm>
          <a:prstGeom prst="roundRect">
            <a:avLst>
              <a:gd name="adj" fmla="val 1892"/>
            </a:avLst>
          </a:prstGeom>
          <a:solidFill>
            <a:srgbClr val="F4F6F9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03920" y="13716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watch for live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503920" y="1783080"/>
            <a:ext cx="29260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“Simulate missed refresh” → banner flips to red STALE DATA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“Run pipeline now” → rebuilds mart live, banner returns to green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numbers never change — only the freshness label reacts, because it reads refreshed_at, not the data itself</a:t>
            </a:r>
            <a:endParaRPr lang="en-US" sz="1150" dirty="0"/>
          </a:p>
        </p:txBody>
      </p:sp>
      <p:sp>
        <p:nvSpPr>
          <p:cNvPr id="8" name="Text 2"/>
          <p:cNvSpPr/>
          <p:nvPr>
            <p:ph idx="103" type="body" hasCustomPrompt="1"/>
          </p:nvPr>
        </p:nvSpPr>
        <p:spPr>
          <a:xfrm>
            <a:off x="502920" y="1097280"/>
            <a:ext cx="11155680" cy="5349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31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8 · PREPARING DATA FOR ML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ML-Readiness Decided Before Modeling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14300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build_features.py builds ml_features (54,860 rows) from the clean admissions table: raw columns plus six engineered features, each checked against one question — would this value be knowable at prediction time?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1A7A4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099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length_of_stay_days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800600" y="17099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 − Admission date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203704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1A7A4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13055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admission_month / dayofweek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800600" y="213055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position of admission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624328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1A7A4C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55117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is_weekend_admission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800600" y="255117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fell on Sat/Sun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044952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1A7A4C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9718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age_group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800600" y="29718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/ Adult / Senior bucket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3465576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1A7A4C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39242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is_chronic_condition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800600" y="339242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in {Diabetes, Hypertension, Asthma}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961120" y="1783080"/>
            <a:ext cx="2697480" cy="4206240"/>
          </a:xfrm>
          <a:prstGeom prst="roundRect">
            <a:avLst>
              <a:gd name="adj" fmla="val 2373"/>
            </a:avLst>
          </a:prstGeom>
          <a:solidFill>
            <a:srgbClr val="1A2B4C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0" y="19202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Deliberately excluded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0" y="2286000"/>
            <a:ext cx="233172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Doctor, Hospital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D6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near-unique identifiers, no predictive signal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Number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D6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operational, not clinical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Results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D6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borderline — excluded as a leakage risk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4251960"/>
            <a:ext cx="8229600" cy="1645920"/>
          </a:xfrm>
          <a:prstGeom prst="roundRect">
            <a:avLst>
              <a:gd name="adj" fmla="val 3333"/>
            </a:avLst>
          </a:prstGeom>
          <a:solidFill>
            <a:srgbClr val="F4F6F9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389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leakage question, applied to every column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1520" y="470916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“Would this value be knowable at prediction time, before the outcome is known?” — covering all three leakage types: future leakage, split leakage, and target leakage. Full column-by-column verdicts are documented in features.md.</a:t>
            </a:r>
            <a:endParaRPr lang="en-US" sz="1250" dirty="0"/>
          </a:p>
        </p:txBody>
      </p:sp>
      <p:sp>
        <p:nvSpPr>
          <p:cNvPr id="26" name="Text 2"/>
          <p:cNvSpPr/>
          <p:nvPr>
            <p:ph idx="103" type="body" hasCustomPrompt="1"/>
          </p:nvPr>
        </p:nvSpPr>
        <p:spPr>
          <a:xfrm>
            <a:off x="502920" y="1097280"/>
            <a:ext cx="11155680" cy="5349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31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8 · PREPARING DATA FOR ML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Split Decided Up Front, and an Honest Datasheet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Time-based split, not group-based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5669280" cy="1463040"/>
        </p:xfrm>
        <a:graphic>
          <a:graphicData uri="http://schemas.openxmlformats.org/drawingml/2006/table">
            <a:tbl>
              <a:tblPr/>
              <a:tblGrid>
                <a:gridCol w="2011680"/>
                <a:gridCol w="1645920"/>
                <a:gridCol w="20116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(70%)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38,402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2022-11-04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 (15%)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8,230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2023-08-05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(15%)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8,228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3200400"/>
            <a:ext cx="56692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group by Doctor/Hospital? Lab 2's cardinality evidence: Doctor 40,341/55,500, Hospital 39,876/55,500, Name 49,992/55,500 distinct — all near-unique, making group-based splitting impractical. Stated residual limitation: possible Doctor/Hospital overlap across the time boundary.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92240" y="1188720"/>
            <a:ext cx="5120640" cy="4297680"/>
          </a:xfrm>
          <a:prstGeom prst="roundRect">
            <a:avLst>
              <a:gd name="adj" fmla="val 1489"/>
            </a:avLst>
          </a:prstGeom>
          <a:solidFill>
            <a:srgbClr val="F4F6F9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720840" y="13716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DATASHEET.md — Gebru et al. framework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720840" y="1783080"/>
            <a:ext cx="46634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prasad22/healthcare-dataset, synthetic.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gap: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amount near-uniform across conditions/insurers — evidence of synthetic generation (Lab 2).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Privacy: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patients; same PDPA minimization lens as Lab 6.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Intended use: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DSAI 6226 coursework ML exercise — explicitly not for real clinical or insurance decisions.</a:t>
            </a:r>
            <a:endParaRPr lang="en-US" sz="1200" dirty="0"/>
          </a:p>
        </p:txBody>
      </p:sp>
      <p:sp>
        <p:nvSpPr>
          <p:cNvPr id="10" name="Text 2"/>
          <p:cNvSpPr/>
          <p:nvPr>
            <p:ph idx="103" type="body" hasCustomPrompt="1"/>
          </p:nvPr>
        </p:nvSpPr>
        <p:spPr>
          <a:xfrm>
            <a:off x="502920" y="1097280"/>
            <a:ext cx="11155680" cy="5349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31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9 · OPTIMISATION &amp; PERFORMANCE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Guessed Wrong — And Measured Instead of Acting On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5394960" cy="4160520"/>
          </a:xfrm>
          <a:prstGeom prst="roundRect">
            <a:avLst>
              <a:gd name="adj" fmla="val 1758"/>
            </a:avLst>
          </a:prstGeom>
          <a:solidFill>
            <a:srgbClr val="F4F6F9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173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assumption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the unit's own worked example, we expected reading the raw CSV (fetch_source) would dominate the pipeline's runtime.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0.144s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31520" y="361188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fetch_source — consistently fast across all 3 runs. Not the bottleneck.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234440"/>
            <a:ext cx="5394960" cy="4160520"/>
          </a:xfrm>
          <a:prstGeom prst="roundRect">
            <a:avLst>
              <a:gd name="adj" fmla="val 1758"/>
            </a:avLst>
          </a:prstGeom>
          <a:solidFill>
            <a:srgbClr val="1A2B4C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4173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actually measured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187452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every real step, 3 times, before touching any code (per the unit's warning against “benchmarking once”).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92240" y="274320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1.287s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492240" y="361188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6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build_features.py — nearly double the next-slowest step, in every single run. The real bottleneck.</a:t>
            </a:r>
            <a:endParaRPr lang="en-US" sz="1250" dirty="0"/>
          </a:p>
        </p:txBody>
      </p:sp>
      <p:sp>
        <p:nvSpPr>
          <p:cNvPr id="14" name="Text 2"/>
          <p:cNvSpPr/>
          <p:nvPr>
            <p:ph idx="103" type="body" hasCustomPrompt="1"/>
          </p:nvPr>
        </p:nvSpPr>
        <p:spPr>
          <a:xfrm>
            <a:off x="502920" y="1097280"/>
            <a:ext cx="11155680" cy="5349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31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9 · OPTIMISATION &amp; PERFORMANCE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Fix: Vectorize, Don't Loop Row by Row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5486400" cy="1188720"/>
          </a:xfrm>
          <a:prstGeom prst="roundRect">
            <a:avLst>
              <a:gd name="adj" fmla="val 4615"/>
            </a:avLst>
          </a:prstGeom>
          <a:solidFill>
            <a:srgbClr val="1A2B4C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32588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df["age_group"] = df["Age"].apply(age_group)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2423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54,860 individual Python calls, one row at a time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63640" y="118872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1A7A4C"/>
          </a:solidFill>
          <a:ln/>
        </p:spPr>
      </p:sp>
      <p:sp>
        <p:nvSpPr>
          <p:cNvPr id="8" name="Text 6"/>
          <p:cNvSpPr/>
          <p:nvPr/>
        </p:nvSpPr>
        <p:spPr>
          <a:xfrm>
            <a:off x="6446520" y="128016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pd.cut(df["Age"], bins=[-1,17,64,200],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labels=["Child","Adult","Senior"])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263640" y="242316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one vectorized pass over the whole column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926080"/>
          <a:ext cx="11155680" cy="1920240"/>
        </p:xfrm>
        <a:graphic>
          <a:graphicData uri="http://schemas.openxmlformats.org/drawingml/2006/table">
            <a:tbl>
              <a:tblPr/>
              <a:tblGrid>
                <a:gridCol w="3200400"/>
                <a:gridCol w="2651760"/>
                <a:gridCol w="2651760"/>
                <a:gridCol w="26517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 (avg)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(avg)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fetch_source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0.144s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0.148s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~flat (untouched)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0.058s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0.059s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~flat (untouched)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load_to_duckdb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0.726s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0.760s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~flat (untouched)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build_marts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0.211s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0.150s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~flat / noise (untouched)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build_features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1.287s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7A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1.134s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7A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−0.153s (≈12% faster)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02920" y="498348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in all 3 runs — modest, not dramatic, because most of this step's time is process/library startup, not the loop. Reported honestly rather than inflated.</a:t>
            </a:r>
            <a:endParaRPr lang="en-US" sz="1200" dirty="0"/>
          </a:p>
        </p:txBody>
      </p:sp>
      <p:sp>
        <p:nvSpPr>
          <p:cNvPr id="12" name="Text 2"/>
          <p:cNvSpPr/>
          <p:nvPr>
            <p:ph idx="103" type="body" hasCustomPrompt="1"/>
          </p:nvPr>
        </p:nvSpPr>
        <p:spPr>
          <a:xfrm>
            <a:off x="502920" y="1097280"/>
            <a:ext cx="11155680" cy="5349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31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9 · OPTIMISATION &amp; PERFORMANCE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Before/After, Visualized</a:t>
            </a:r>
            <a:endParaRPr lang="en-US" sz="3000" dirty="0"/>
          </a:p>
        </p:txBody>
      </p:sp>
      <p:pic>
        <p:nvPicPr>
          <p:cNvPr id="4" name="Image 0" descr="lab9_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737360" y="1188720"/>
            <a:ext cx="8686800" cy="4526280"/>
          </a:xfrm>
          <a:prstGeom prst="rect">
            <a:avLst/>
          </a:prstGeom>
        </p:spPr>
      </p:pic>
      <p:sp>
        <p:nvSpPr>
          <p:cNvPr id="5" name="Text 2"/>
          <p:cNvSpPr/>
          <p:nvPr>
            <p:ph idx="103" type="body" hasCustomPrompt="1"/>
          </p:nvPr>
        </p:nvSpPr>
        <p:spPr>
          <a:xfrm>
            <a:off x="502920" y="1097280"/>
            <a:ext cx="11155680" cy="5349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Labs, One Discipline: Evidence Over Assumption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280160"/>
            <a:ext cx="1188720" cy="960120"/>
          </a:xfrm>
          <a:prstGeom prst="roundRect">
            <a:avLst>
              <a:gd name="adj" fmla="val 5714"/>
            </a:avLst>
          </a:prstGeom>
          <a:solidFill>
            <a:srgbClr val="1A2B4C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80160"/>
            <a:ext cx="1188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74520" y="1280160"/>
            <a:ext cx="9784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checks must be proven to fire, not just written — quarantine, don't silently drop.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423160"/>
            <a:ext cx="1188720" cy="960120"/>
          </a:xfrm>
          <a:prstGeom prst="roundRect">
            <a:avLst>
              <a:gd name="adj" fmla="val 5714"/>
            </a:avLst>
          </a:prstGeom>
          <a:solidFill>
            <a:srgbClr val="1A2B4C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423160"/>
            <a:ext cx="1188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7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74520" y="2423160"/>
            <a:ext cx="9784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metric defined once and a freshness label that reacts to real failures beats a dashboard that just looks fine.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3566160"/>
            <a:ext cx="1188720" cy="960120"/>
          </a:xfrm>
          <a:prstGeom prst="roundRect">
            <a:avLst>
              <a:gd name="adj" fmla="val 5714"/>
            </a:avLst>
          </a:prstGeom>
          <a:solidFill>
            <a:srgbClr val="1A2B4C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566160"/>
            <a:ext cx="1188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8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874520" y="3566160"/>
            <a:ext cx="9784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ML-readiness — leakage, splits — is decided before modeling, with a documented audit trail.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4709160"/>
            <a:ext cx="1188720" cy="960120"/>
          </a:xfrm>
          <a:prstGeom prst="roundRect">
            <a:avLst>
              <a:gd name="adj" fmla="val 5714"/>
            </a:avLst>
          </a:prstGeom>
          <a:solidFill>
            <a:srgbClr val="1A2B4C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4709160"/>
            <a:ext cx="1188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9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874520" y="4709160"/>
            <a:ext cx="9784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first. Our own intuition about the bottleneck was wrong; the data corrected us.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5943600"/>
            <a:ext cx="11155680" cy="868680"/>
          </a:xfrm>
          <a:prstGeom prst="roundRect">
            <a:avLst>
              <a:gd name="adj" fmla="val 6316"/>
            </a:avLst>
          </a:prstGeom>
          <a:solidFill>
            <a:srgbClr val="F4F6F9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608076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four labs, every claim in this deck is backed by a script you can re-run and a number you can reproduce.</a:t>
            </a:r>
            <a:endParaRPr lang="en-US" sz="1400" dirty="0"/>
          </a:p>
        </p:txBody>
      </p:sp>
      <p:sp>
        <p:nvSpPr>
          <p:cNvPr id="17" name="Text 2"/>
          <p:cNvSpPr/>
          <p:nvPr>
            <p:ph idx="103" type="body" hasCustomPrompt="1"/>
          </p:nvPr>
        </p:nvSpPr>
        <p:spPr>
          <a:xfrm>
            <a:off x="502920" y="1097280"/>
            <a:ext cx="11155680" cy="5349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731520" y="3017520"/>
            <a:ext cx="128016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200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023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3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4389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Allen L. Lyimo  ·  Asina Mchomvu  ·  Frank Mtimbili  ·  Claverfred Mhidze  ·  Kelvin Mwanga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4846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github.com/lyimoa/Data-Engineering-Group-3-New-Dataset-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oup3DE">
  <a:themeElements>
    <a:clrScheme name="Group3DE">
      <a:dk1>
        <a:srgbClr val="1A1A1A"/>
      </a:dk1>
      <a:lt1>
        <a:srgbClr val="FFFFFF"/>
      </a:lt1>
      <a:dk2>
        <a:srgbClr val="1A2B4C"/>
      </a:dk2>
      <a:lt2>
        <a:srgbClr val="F4F6F9"/>
      </a:lt2>
      <a:accent1>
        <a:srgbClr val="1A2B4C"/>
      </a:accent1>
      <a:accent2>
        <a:srgbClr val="C9A227"/>
      </a:accent2>
      <a:accent3>
        <a:srgbClr val="1A7A4C"/>
      </a:accent3>
      <a:accent4>
        <a:srgbClr val="C0392B"/>
      </a:accent4>
      <a:accent5>
        <a:srgbClr val="4A5568"/>
      </a:accent5>
      <a:accent6>
        <a:srgbClr val="27406B"/>
      </a:accent6>
      <a:hlink>
        <a:srgbClr val="1A2B4C"/>
      </a:hlink>
      <a:folHlink>
        <a:srgbClr val="27406B"/>
      </a:folHlink>
    </a:clrScheme>
    <a:fontScheme name="Group3D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DSAI 6226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2026-10-04T16:14:30Z</dcterms:created>
  <dcterms:modified xsi:type="dcterms:W3CDTF">2026-10-04T16:14:30Z</dcterms:modified>
</cp:coreProperties>
</file>