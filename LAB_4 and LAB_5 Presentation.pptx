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4546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44546A"/>
                </a:solidFill>
                <a:latin typeface="Calibri"/>
              </a:rPr>
              <a:t>File Size (KB)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 size (KB)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90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CSV</c:v>
                  </c:pt>
                  <c:pt idx="1">
                    <c:v>Parquet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8202.4</c:v>
                </c:pt>
                <c:pt idx="1">
                  <c:v>2755.6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6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4546A"/>
                </a:solidFill>
                <a:latin typeface="Calibri"/>
              </a:rPr>
              <a:t>Query Time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Cold run (s)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6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pandas</c:v>
                  </c:pt>
                  <c:pt idx="1">
                    <c:v>PostgreSQL</c:v>
                  </c:pt>
                  <c:pt idx="2">
                    <c:v>DuckDB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0.0192</c:v>
                </c:pt>
                <c:pt idx="1">
                  <c:v>0.0277</c:v>
                </c:pt>
                <c:pt idx="2">
                  <c:v>0.2636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 run (s)</c:v>
                </c:pt>
              </c:strCache>
            </c:strRef>
          </c:tx>
          <c:spPr>
            <a:solidFill>
              <a:srgbClr val="BF9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6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pandas</c:v>
                  </c:pt>
                  <c:pt idx="1">
                    <c:v>PostgreSQL</c:v>
                  </c:pt>
                  <c:pt idx="2">
                    <c:v>DuckDB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0.0449</c:v>
                </c:pt>
                <c:pt idx="1">
                  <c:v>0.0297</c:v>
                </c:pt>
                <c:pt idx="2">
                  <c:v>0.0093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226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Obesity</c:v>
                  </c:pt>
                  <c:pt idx="1">
                    <c:v>Diabetes</c:v>
                  </c:pt>
                  <c:pt idx="2">
                    <c:v>Asthma</c:v>
                  </c:pt>
                  <c:pt idx="3">
                    <c:v>Hypertension</c:v>
                  </c:pt>
                  <c:pt idx="4">
                    <c:v>Arthritis</c:v>
                  </c:pt>
                  <c:pt idx="5">
                    <c:v>Cancer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25805.97</c:v>
                </c:pt>
                <c:pt idx="1">
                  <c:v>25638.41</c:v>
                </c:pt>
                <c:pt idx="2">
                  <c:v>25635.25</c:v>
                </c:pt>
                <c:pt idx="3">
                  <c:v>25497.1</c:v>
                </c:pt>
                <c:pt idx="4">
                  <c:v>25497.33</c:v>
                </c:pt>
                <c:pt idx="5">
                  <c:v>25161.79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Cleaned</c:v>
                </c:pt>
              </c:strCache>
            </c:strRef>
          </c:tx>
          <c:spPr>
            <a:solidFill>
              <a:srgbClr val="BF9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Obesity</c:v>
                  </c:pt>
                  <c:pt idx="1">
                    <c:v>Diabetes</c:v>
                  </c:pt>
                  <c:pt idx="2">
                    <c:v>Asthma</c:v>
                  </c:pt>
                  <c:pt idx="3">
                    <c:v>Hypertension</c:v>
                  </c:pt>
                  <c:pt idx="4">
                    <c:v>Arthritis</c:v>
                  </c:pt>
                  <c:pt idx="5">
                    <c:v>Cancer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25859.22</c:v>
                </c:pt>
                <c:pt idx="1">
                  <c:v>25714.33</c:v>
                </c:pt>
                <c:pt idx="2">
                  <c:v>25685.39</c:v>
                </c:pt>
                <c:pt idx="3">
                  <c:v>25559.84</c:v>
                </c:pt>
                <c:pt idx="4">
                  <c:v>25542.9</c:v>
                </c:pt>
                <c:pt idx="5">
                  <c:v>25205.92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480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Calibri"/>
                  </a:rPr>
                  <a:t>Avg billing (USD)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46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6226 · DATA ENGINEERING AND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Benchmarks to the Cloud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 Storage &amp; Query Benchmarking   •   Lab 5: Cloud Data 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Healthcare Admissions Dataset (Kaggle)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44546A"/>
          </a:solidFill>
          <a:ln/>
        </p:spPr>
      </p:sp>
      <p:pic>
        <p:nvPicPr>
          <p:cNvPr id="7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1125" y="2781605"/>
            <a:ext cx="746150" cy="74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Query Benchmark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three-question decision path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447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vs. Parquet: file size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0142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vs. Postgres vs. DuckDB: query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5811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vs. warm-run pitfall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1480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&amp; reasoning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212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 Engineering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447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chained validation → dedup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40142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cleaning change the answer?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45811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limitations we uncovered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51480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layer: a Streamlit 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DSAI 6226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Query Benchmarking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55,500-row dataset really need “big data” infrastructure? We measured it, rather than assumed.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2651760"/>
            <a:ext cx="1463040" cy="1463040"/>
          </a:xfrm>
          <a:prstGeom prst="ellipse">
            <a:avLst/>
          </a:prstGeom>
          <a:solidFill>
            <a:srgbClr val="44546A"/>
          </a:solidFill>
          <a:ln/>
        </p:spPr>
      </p:sp>
      <p:pic>
        <p:nvPicPr>
          <p:cNvPr id="6" name="Image 0" descr="icons/chart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0" y="303215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Three-Question Decision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reaching for distributed infrastructure, we asked three questions about our own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5146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210" y="27285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fit in memory?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rows, ~8 MB — yes, easily.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360" y="3383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5623560" y="25146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30" y="27285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fit on one disk?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4206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Trivially — a few megabytes.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26680" y="3383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4672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6880" y="25146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2" descr="icons/desk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850" y="27285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truly beyond one machine?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75320" y="4206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laptop handles this comfortably.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this dataset never needed distributed infrastructure — the real question was which single-machine tool is fastest.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Storage &amp; Query Benchmark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Size: CSV vs. Parquet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columnar layout and compression — no values changed.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19456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1F3864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2514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~3x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138160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file, from format alone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Storage &amp; Query Benchmark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Time: Cold vs. Warm Runs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aggregate query, three tools, run twice each.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6304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5F6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1737360"/>
            <a:ext cx="640080" cy="64008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7" name="Image 0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821" y="190378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trap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26680" y="2514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DuckDB's cold run (0.264s) was the slowest of all three — not the fastest, as illustrative lecture numbers suggested.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2668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cost is one-time engine start-up, not the query. Warmed up, DuckDB dropped to 0.009s — faster than either alternative.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26680" y="4617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raw first number would have supported the wrong conclusion.”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Storage &amp; Query Benchmark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0" cy="164592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3" name="Image 0" descr="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2713939"/>
            <a:ext cx="790042" cy="7900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22860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Verdict: DuckDB + Parquet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834640" y="306324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warmed up, DuckDB was the fastest of all three tools tested, on a Parquet file roughly 3x smaller than the raw CSV. Its one-time cold start is a session-level cost, not a repeated query cost — it doesn't change the recommendation.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34640" y="43434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Postgres-level reliability, pandas-level simplicity, zero server setup — the right tool for this dataset now, and it scales better if the data grows.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Storage &amp; Query Benchmark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 Engineering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the pipeline to BigQuery — and went beyond the paper design to actually build and verify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2651760"/>
            <a:ext cx="1463040" cy="1463040"/>
          </a:xfrm>
          <a:prstGeom prst="ellipse">
            <a:avLst/>
          </a:prstGeom>
          <a:solidFill>
            <a:srgbClr val="44546A"/>
          </a:solidFill>
          <a:ln/>
        </p:spPr>
      </p:sp>
      <p:pic>
        <p:nvPicPr>
          <p:cNvPr id="6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0" y="303215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BigQuery Sandbox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separate storage from compute, and bill on four “meters.”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933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uploaded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933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8.06 MB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933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975.81 KB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per query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933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africa-south1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(Johannesburg)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cost meters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94360" cy="5943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8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4406494"/>
            <a:ext cx="285293" cy="2852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80160" y="4572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GB, per month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4251960"/>
            <a:ext cx="594360" cy="5943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22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094" y="4406494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069080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069080" y="4572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second running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126480" y="4251960"/>
            <a:ext cx="594360" cy="5943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26" name="Image 2" descr="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14" y="440649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58000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858000" y="4572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TB read by a query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915400" y="4251960"/>
            <a:ext cx="594360" cy="5943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30" name="Image 3" descr="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934" y="4406494"/>
            <a:ext cx="285293" cy="28529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646920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646920" y="4572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GB leaving the cloud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Cloud Data Engineering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Chained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rebuilt Lab 3's ingest.py logic (validate → deduplicate) as a BigQuery pipeline (Dataform) — each stage reads from the previous stage's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55,500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30175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Admissions_validated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154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55,392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9204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≥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09560" y="30175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595360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BF9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Admissions_deduped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0" y="3154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54,860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7824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rows (final)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F5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892040"/>
            <a:ext cx="548640" cy="548640"/>
          </a:xfrm>
          <a:prstGeom prst="ellipse">
            <a:avLst/>
          </a:prstGeom>
          <a:solidFill>
            <a:srgbClr val="44546A"/>
          </a:solidFill>
          <a:ln/>
        </p:spPr>
      </p:sp>
      <p:pic>
        <p:nvPicPr>
          <p:cNvPr id="20" name="Image 0" descr="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5034686"/>
            <a:ext cx="263347" cy="26334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83080" y="4828032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tooling quirk we found: Dataform's “Run task” sometimes previewed correct results without persisting the table (confirmed via INFORMATION_SCHEMA.TABLES). Running the same compiled SQL directly as a query reliably created it — likely a sandbox + institutional-account quirk.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Cloud Data Engineering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Cleaning Change the Answer?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billing by medical condition: raw Admissions vs. final Admissions_deduped.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average rose after cleaning — and Hypertension overtook Arthritis in rank.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Cloud Data Engineering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Limitations We Documented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constraints we hit — and worked around without enabling billing.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icons/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0985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74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&amp; scheduling are blocked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30428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statements and scheduled pipeline runs both require billing — we used CREATE TABLE ... AS SELECT (DDL) instead.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685800" cy="6858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5158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expiration capped at 60 days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72160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admission dates span 2019–2024. Partitioning by date deleted every partition instantly — all far older than 60 days.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754880"/>
            <a:ext cx="685800" cy="6858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9331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Dataform's “Run task” was unreliable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513892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sometimes compiled and previewed results without persisting the table. Running the compiled SQL directly worked every time.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Cloud Data Engineering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Serve: A Streamlit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Python-based, querying Admissions_deduped directly — reusing our pandas skills from earlier labs.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5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2061058"/>
            <a:ext cx="175565" cy="175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920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filters: condition, gender, admission type, date range, 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8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719426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78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admissions, avg billing, avg length of stay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1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377794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23697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donut, line &amp; box-plot charts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941064"/>
            <a:ext cx="365760" cy="3657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4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4036162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8953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row-count summary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7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8" y="469453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5537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of filtered data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040880" y="18288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5F6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269480" y="2057400"/>
            <a:ext cx="411480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4"/>
          <p:cNvSpPr/>
          <p:nvPr/>
        </p:nvSpPr>
        <p:spPr>
          <a:xfrm>
            <a:off x="740664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Admissions Dashboard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269480" y="26974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69480" y="2761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54,860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366760" y="26974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366760" y="2761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$25.6K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464040" y="26974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464040" y="2761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days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10561320" y="26974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561320" y="2761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7269480" y="365760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406640" y="4334256"/>
            <a:ext cx="533400" cy="6035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2" name="Shape 25"/>
          <p:cNvSpPr/>
          <p:nvPr/>
        </p:nvSpPr>
        <p:spPr>
          <a:xfrm>
            <a:off x="8122920" y="4059936"/>
            <a:ext cx="533400" cy="87782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33" name="Shape 26"/>
          <p:cNvSpPr/>
          <p:nvPr/>
        </p:nvSpPr>
        <p:spPr>
          <a:xfrm>
            <a:off x="8839200" y="4224528"/>
            <a:ext cx="53340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4" name="Shape 27"/>
          <p:cNvSpPr/>
          <p:nvPr/>
        </p:nvSpPr>
        <p:spPr>
          <a:xfrm>
            <a:off x="9555480" y="3950208"/>
            <a:ext cx="533400" cy="987552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35" name="Shape 28"/>
          <p:cNvSpPr/>
          <p:nvPr/>
        </p:nvSpPr>
        <p:spPr>
          <a:xfrm>
            <a:off x="10271760" y="4443984"/>
            <a:ext cx="533400" cy="49377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Shape 29"/>
          <p:cNvSpPr/>
          <p:nvPr/>
        </p:nvSpPr>
        <p:spPr>
          <a:xfrm>
            <a:off x="10988040" y="4169664"/>
            <a:ext cx="533400" cy="768096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37" name="Shape 30"/>
          <p:cNvSpPr/>
          <p:nvPr/>
        </p:nvSpPr>
        <p:spPr>
          <a:xfrm>
            <a:off x="7269480" y="530352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406640" y="5303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data · CSV download ↓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Cloud Data Engineering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4" name="Image 0" descr="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00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scale — a 55,500-row dataset never needed distributed infrastructure.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7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24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5603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cold-start benchmark can lie — always separate one-time setup cost from steady-state performance.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0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8503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5204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sandboxes have real, documentable limits — and working around them honestly is itself a finding.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</p:sp>
      <p:pic>
        <p:nvPicPr>
          <p:cNvPr id="13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4515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480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isn't a formality — cleaning our data changed which condition ranked highest.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L. Lyimo · Asina Mchomvu · Frank Mtimbili · Claverfred Mhidze · Kelvin Mwanga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2026-09-06T19:12:48Z</dcterms:created>
  <dcterms:modified xsi:type="dcterms:W3CDTF">2026-09-06T19:12:48Z</dcterms:modified>
</cp:coreProperties>
</file>