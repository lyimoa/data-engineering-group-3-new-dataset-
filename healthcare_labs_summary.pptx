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124" d="100"/>
          <a:sy n="124" d="100"/>
        </p:scale>
        <p:origin x="200"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893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828800"/>
            <a:ext cx="5486400" cy="5486400"/>
          </a:xfrm>
          <a:prstGeom prst="ellipse">
            <a:avLst/>
          </a:prstGeom>
          <a:solidFill>
            <a:srgbClr val="141B4D"/>
          </a:solidFill>
          <a:ln/>
        </p:spPr>
      </p:sp>
      <p:sp>
        <p:nvSpPr>
          <p:cNvPr id="3" name="Shape 1"/>
          <p:cNvSpPr/>
          <p:nvPr/>
        </p:nvSpPr>
        <p:spPr>
          <a:xfrm>
            <a:off x="-2011680" y="4754880"/>
            <a:ext cx="4114800" cy="4114800"/>
          </a:xfrm>
          <a:prstGeom prst="ellipse">
            <a:avLst/>
          </a:prstGeom>
          <a:solidFill>
            <a:srgbClr val="141B4D"/>
          </a:solidFill>
          <a:ln/>
        </p:spPr>
      </p:sp>
      <p:sp>
        <p:nvSpPr>
          <p:cNvPr id="4" name="Text 2"/>
          <p:cNvSpPr/>
          <p:nvPr/>
        </p:nvSpPr>
        <p:spPr>
          <a:xfrm>
            <a:off x="731520" y="1920240"/>
            <a:ext cx="9144000" cy="36576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DSAI 6226 · DATA ENGINEERING &amp; ANALYTICS</a:t>
            </a:r>
            <a:endParaRPr lang="en-US" sz="1300" dirty="0"/>
          </a:p>
        </p:txBody>
      </p:sp>
      <p:sp>
        <p:nvSpPr>
          <p:cNvPr id="5" name="Text 3"/>
          <p:cNvSpPr/>
          <p:nvPr/>
        </p:nvSpPr>
        <p:spPr>
          <a:xfrm>
            <a:off x="731520" y="2331720"/>
            <a:ext cx="1051560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From Raw CSV to Reliable Pipeline</a:t>
            </a:r>
            <a:endParaRPr lang="en-US" sz="4200" dirty="0"/>
          </a:p>
        </p:txBody>
      </p:sp>
      <p:sp>
        <p:nvSpPr>
          <p:cNvPr id="6" name="Text 4"/>
          <p:cNvSpPr/>
          <p:nvPr/>
        </p:nvSpPr>
        <p:spPr>
          <a:xfrm>
            <a:off x="731520" y="3429000"/>
            <a:ext cx="8686800" cy="73152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Labs 1–3 on the Healthcare Admissions Dataset — data quality, schema design, and idempotent ingestion.</a:t>
            </a:r>
            <a:endParaRPr lang="en-US" sz="1600" dirty="0"/>
          </a:p>
        </p:txBody>
      </p:sp>
      <p:sp>
        <p:nvSpPr>
          <p:cNvPr id="7" name="Text 5"/>
          <p:cNvSpPr/>
          <p:nvPr/>
        </p:nvSpPr>
        <p:spPr>
          <a:xfrm>
            <a:off x="731520" y="5852160"/>
            <a:ext cx="36576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GROUP 3</a:t>
            </a:r>
            <a:endParaRPr lang="en-US" sz="1300" dirty="0"/>
          </a:p>
        </p:txBody>
      </p:sp>
      <p:sp>
        <p:nvSpPr>
          <p:cNvPr id="8" name="Text 6"/>
          <p:cNvSpPr/>
          <p:nvPr/>
        </p:nvSpPr>
        <p:spPr>
          <a:xfrm>
            <a:off x="731520" y="6172200"/>
            <a:ext cx="5486400" cy="320040"/>
          </a:xfrm>
          <a:prstGeom prst="rect">
            <a:avLst/>
          </a:prstGeom>
          <a:noFill/>
          <a:ln/>
        </p:spPr>
        <p:txBody>
          <a:bodyPr wrap="square" rtlCol="0" anchor="ctr"/>
          <a:lstStyle/>
          <a:p>
            <a:pPr marL="0" indent="0">
              <a:buNone/>
            </a:pPr>
            <a:r>
              <a:rPr lang="en-US" sz="1100" dirty="0">
                <a:solidFill>
                  <a:srgbClr val="8892B0"/>
                </a:solidFill>
                <a:latin typeface="Calibri" pitchFamily="34" charset="0"/>
                <a:ea typeface="Calibri" pitchFamily="34" charset="-122"/>
                <a:cs typeface="Calibri" pitchFamily="34" charset="-120"/>
              </a:rPr>
              <a:t>Data Engineering Course ·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Our Journey So Far</a:t>
            </a:r>
            <a:endParaRPr lang="en-US" sz="30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Three labs, one dataset, one pipeline taking shape.</a:t>
            </a:r>
            <a:endParaRPr lang="en-US" sz="1400" dirty="0"/>
          </a:p>
        </p:txBody>
      </p:sp>
      <p:sp>
        <p:nvSpPr>
          <p:cNvPr id="4" name="Shape 2"/>
          <p:cNvSpPr/>
          <p:nvPr/>
        </p:nvSpPr>
        <p:spPr>
          <a:xfrm>
            <a:off x="548640" y="192024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5" name="Shape 3"/>
          <p:cNvSpPr/>
          <p:nvPr/>
        </p:nvSpPr>
        <p:spPr>
          <a:xfrm>
            <a:off x="868680" y="2240280"/>
            <a:ext cx="640080" cy="640080"/>
          </a:xfrm>
          <a:prstGeom prst="ellipse">
            <a:avLst/>
          </a:prstGeom>
          <a:solidFill>
            <a:srgbClr val="1E2761"/>
          </a:solidFill>
          <a:ln/>
        </p:spPr>
      </p:sp>
      <p:sp>
        <p:nvSpPr>
          <p:cNvPr id="6" name="Text 4"/>
          <p:cNvSpPr/>
          <p:nvPr/>
        </p:nvSpPr>
        <p:spPr>
          <a:xfrm>
            <a:off x="868680" y="224028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7" name="Text 5"/>
          <p:cNvSpPr/>
          <p:nvPr/>
        </p:nvSpPr>
        <p:spPr>
          <a:xfrm>
            <a:off x="868680" y="3063240"/>
            <a:ext cx="2926080" cy="731520"/>
          </a:xfrm>
          <a:prstGeom prst="rect">
            <a:avLst/>
          </a:prstGeom>
          <a:noFill/>
          <a:ln/>
        </p:spPr>
        <p:txBody>
          <a:bodyPr wrap="square" rtlCol="0" anchor="ctr"/>
          <a:lstStyle/>
          <a:p>
            <a:pPr marL="0" indent="0">
              <a:buNone/>
            </a:pPr>
            <a:r>
              <a:rPr lang="en-US" sz="1900" b="1" dirty="0">
                <a:solidFill>
                  <a:srgbClr val="1A1D29"/>
                </a:solidFill>
                <a:latin typeface="Cambria" pitchFamily="34" charset="0"/>
                <a:ea typeface="Cambria" pitchFamily="34" charset="-122"/>
                <a:cs typeface="Cambria" pitchFamily="34" charset="-120"/>
              </a:rPr>
              <a:t>Data Problem Statement</a:t>
            </a:r>
            <a:endParaRPr lang="en-US" sz="1900" dirty="0"/>
          </a:p>
        </p:txBody>
      </p:sp>
      <p:sp>
        <p:nvSpPr>
          <p:cNvPr id="8" name="Text 6"/>
          <p:cNvSpPr/>
          <p:nvPr/>
        </p:nvSpPr>
        <p:spPr>
          <a:xfrm>
            <a:off x="868680" y="3794760"/>
            <a:ext cx="2926080" cy="2103120"/>
          </a:xfrm>
          <a:prstGeom prst="rect">
            <a:avLst/>
          </a:prstGeom>
          <a:noFill/>
          <a:ln/>
        </p:spPr>
        <p:txBody>
          <a:bodyPr wrap="square" rtlCol="0" anchor="t"/>
          <a:lstStyle/>
          <a:p>
            <a:pPr marL="0" indent="0">
              <a:buNone/>
            </a:pPr>
            <a:r>
              <a:rPr lang="en-US" sz="1300" dirty="0">
                <a:solidFill>
                  <a:srgbClr val="6B7280"/>
                </a:solidFill>
                <a:latin typeface="Calibri" pitchFamily="34" charset="0"/>
                <a:ea typeface="Calibri" pitchFamily="34" charset="-122"/>
                <a:cs typeface="Calibri" pitchFamily="34" charset="-120"/>
              </a:rPr>
              <a:t>Explored the raw data, found three concrete quality issues, defined who needs it and why.</a:t>
            </a:r>
            <a:endParaRPr lang="en-US" sz="1300" dirty="0"/>
          </a:p>
        </p:txBody>
      </p:sp>
      <p:sp>
        <p:nvSpPr>
          <p:cNvPr id="9" name="Text 7"/>
          <p:cNvSpPr/>
          <p:nvPr/>
        </p:nvSpPr>
        <p:spPr>
          <a:xfrm>
            <a:off x="4133088" y="3657600"/>
            <a:ext cx="301752" cy="548640"/>
          </a:xfrm>
          <a:prstGeom prst="rect">
            <a:avLst/>
          </a:prstGeom>
          <a:noFill/>
          <a:ln/>
        </p:spPr>
        <p:txBody>
          <a:bodyPr wrap="square" rtlCol="0" anchor="ctr"/>
          <a:lstStyle/>
          <a:p>
            <a:pPr marL="0" indent="0" algn="ctr">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434840" y="192024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11" name="Shape 9"/>
          <p:cNvSpPr/>
          <p:nvPr/>
        </p:nvSpPr>
        <p:spPr>
          <a:xfrm>
            <a:off x="4754880" y="2240280"/>
            <a:ext cx="640080" cy="640080"/>
          </a:xfrm>
          <a:prstGeom prst="ellipse">
            <a:avLst/>
          </a:prstGeom>
          <a:solidFill>
            <a:srgbClr val="1E2761"/>
          </a:solidFill>
          <a:ln/>
        </p:spPr>
      </p:sp>
      <p:sp>
        <p:nvSpPr>
          <p:cNvPr id="12" name="Text 10"/>
          <p:cNvSpPr/>
          <p:nvPr/>
        </p:nvSpPr>
        <p:spPr>
          <a:xfrm>
            <a:off x="4754880" y="224028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3" name="Text 11"/>
          <p:cNvSpPr/>
          <p:nvPr/>
        </p:nvSpPr>
        <p:spPr>
          <a:xfrm>
            <a:off x="4754880" y="3063240"/>
            <a:ext cx="2926080" cy="731520"/>
          </a:xfrm>
          <a:prstGeom prst="rect">
            <a:avLst/>
          </a:prstGeom>
          <a:noFill/>
          <a:ln/>
        </p:spPr>
        <p:txBody>
          <a:bodyPr wrap="square" rtlCol="0" anchor="ctr"/>
          <a:lstStyle/>
          <a:p>
            <a:pPr marL="0" indent="0">
              <a:buNone/>
            </a:pPr>
            <a:r>
              <a:rPr lang="en-US" sz="1900" b="1" dirty="0">
                <a:solidFill>
                  <a:srgbClr val="1A1D29"/>
                </a:solidFill>
                <a:latin typeface="Cambria" pitchFamily="34" charset="0"/>
                <a:ea typeface="Cambria" pitchFamily="34" charset="-122"/>
                <a:cs typeface="Cambria" pitchFamily="34" charset="-120"/>
              </a:rPr>
              <a:t>Schema Design</a:t>
            </a:r>
            <a:endParaRPr lang="en-US" sz="1900" dirty="0"/>
          </a:p>
        </p:txBody>
      </p:sp>
      <p:sp>
        <p:nvSpPr>
          <p:cNvPr id="14" name="Text 12"/>
          <p:cNvSpPr/>
          <p:nvPr/>
        </p:nvSpPr>
        <p:spPr>
          <a:xfrm>
            <a:off x="4754880" y="3794760"/>
            <a:ext cx="2926080" cy="2103120"/>
          </a:xfrm>
          <a:prstGeom prst="rect">
            <a:avLst/>
          </a:prstGeom>
          <a:noFill/>
          <a:ln/>
        </p:spPr>
        <p:txBody>
          <a:bodyPr wrap="square" rtlCol="0" anchor="t"/>
          <a:lstStyle/>
          <a:p>
            <a:pPr marL="0" indent="0">
              <a:buNone/>
            </a:pPr>
            <a:r>
              <a:rPr lang="en-US" sz="1300" dirty="0">
                <a:solidFill>
                  <a:srgbClr val="6B7280"/>
                </a:solidFill>
                <a:latin typeface="Calibri" pitchFamily="34" charset="0"/>
                <a:ea typeface="Calibri" pitchFamily="34" charset="-122"/>
                <a:cs typeface="Calibri" pitchFamily="34" charset="-120"/>
              </a:rPr>
              <a:t>Built a deliberate hybrid schema in DuckDB: six lookup tables + one central fact table.</a:t>
            </a:r>
            <a:endParaRPr lang="en-US" sz="1300" dirty="0"/>
          </a:p>
        </p:txBody>
      </p:sp>
      <p:sp>
        <p:nvSpPr>
          <p:cNvPr id="15" name="Text 13"/>
          <p:cNvSpPr/>
          <p:nvPr/>
        </p:nvSpPr>
        <p:spPr>
          <a:xfrm>
            <a:off x="8019288" y="3657600"/>
            <a:ext cx="301752" cy="548640"/>
          </a:xfrm>
          <a:prstGeom prst="rect">
            <a:avLst/>
          </a:prstGeom>
          <a:noFill/>
          <a:ln/>
        </p:spPr>
        <p:txBody>
          <a:bodyPr wrap="square" rtlCol="0" anchor="ctr"/>
          <a:lstStyle/>
          <a:p>
            <a:pPr marL="0" indent="0" algn="ctr">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321040" y="192024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17" name="Shape 15"/>
          <p:cNvSpPr/>
          <p:nvPr/>
        </p:nvSpPr>
        <p:spPr>
          <a:xfrm>
            <a:off x="8641080" y="2240280"/>
            <a:ext cx="640080" cy="640080"/>
          </a:xfrm>
          <a:prstGeom prst="ellipse">
            <a:avLst/>
          </a:prstGeom>
          <a:solidFill>
            <a:srgbClr val="1E2761"/>
          </a:solidFill>
          <a:ln/>
        </p:spPr>
      </p:sp>
      <p:sp>
        <p:nvSpPr>
          <p:cNvPr id="18" name="Text 16"/>
          <p:cNvSpPr/>
          <p:nvPr/>
        </p:nvSpPr>
        <p:spPr>
          <a:xfrm>
            <a:off x="8641080" y="224028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3</a:t>
            </a:r>
            <a:endParaRPr lang="en-US" sz="1820" dirty="0"/>
          </a:p>
        </p:txBody>
      </p:sp>
      <p:sp>
        <p:nvSpPr>
          <p:cNvPr id="19" name="Text 17"/>
          <p:cNvSpPr/>
          <p:nvPr/>
        </p:nvSpPr>
        <p:spPr>
          <a:xfrm>
            <a:off x="8641080" y="3063240"/>
            <a:ext cx="2926080" cy="731520"/>
          </a:xfrm>
          <a:prstGeom prst="rect">
            <a:avLst/>
          </a:prstGeom>
          <a:noFill/>
          <a:ln/>
        </p:spPr>
        <p:txBody>
          <a:bodyPr wrap="square" rtlCol="0" anchor="ctr"/>
          <a:lstStyle/>
          <a:p>
            <a:pPr marL="0" indent="0">
              <a:buNone/>
            </a:pPr>
            <a:r>
              <a:rPr lang="en-US" sz="1900" b="1" dirty="0">
                <a:solidFill>
                  <a:srgbClr val="1A1D29"/>
                </a:solidFill>
                <a:latin typeface="Cambria" pitchFamily="34" charset="0"/>
                <a:ea typeface="Cambria" pitchFamily="34" charset="-122"/>
                <a:cs typeface="Cambria" pitchFamily="34" charset="-120"/>
              </a:rPr>
              <a:t>Re-runnable Ingestion</a:t>
            </a:r>
            <a:endParaRPr lang="en-US" sz="1900" dirty="0"/>
          </a:p>
        </p:txBody>
      </p:sp>
      <p:sp>
        <p:nvSpPr>
          <p:cNvPr id="20" name="Text 18"/>
          <p:cNvSpPr/>
          <p:nvPr/>
        </p:nvSpPr>
        <p:spPr>
          <a:xfrm>
            <a:off x="8641080" y="3794760"/>
            <a:ext cx="2926080" cy="2103120"/>
          </a:xfrm>
          <a:prstGeom prst="rect">
            <a:avLst/>
          </a:prstGeom>
          <a:noFill/>
          <a:ln/>
        </p:spPr>
        <p:txBody>
          <a:bodyPr wrap="square" rtlCol="0" anchor="t"/>
          <a:lstStyle/>
          <a:p>
            <a:pPr marL="0" indent="0">
              <a:buNone/>
            </a:pPr>
            <a:r>
              <a:rPr lang="en-US" sz="1300" dirty="0">
                <a:solidFill>
                  <a:srgbClr val="6B7280"/>
                </a:solidFill>
                <a:latin typeface="Calibri" pitchFamily="34" charset="0"/>
                <a:ea typeface="Calibri" pitchFamily="34" charset="-122"/>
                <a:cs typeface="Calibri" pitchFamily="34" charset="-120"/>
              </a:rPr>
              <a:t>Wrote a Python ingester that fetches, validates, loads idempotently, and logs everything.</a:t>
            </a:r>
            <a:endParaRPr lang="en-US" sz="1300" dirty="0"/>
          </a:p>
        </p:txBody>
      </p:sp>
      <p:sp>
        <p:nvSpPr>
          <p:cNvPr id="21" name="Text 19"/>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Unit 3 · Data Acquisition</a:t>
            </a:r>
            <a:endParaRPr lang="en-US" sz="1000" dirty="0"/>
          </a:p>
        </p:txBody>
      </p:sp>
      <p:sp>
        <p:nvSpPr>
          <p:cNvPr id="22" name="Text 20"/>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The Dataset</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Healthcare Dataset (prasad22, Kaggle) — one flat CSV of hospital admissions.</a:t>
            </a:r>
            <a:endParaRPr lang="en-US" sz="1400" dirty="0"/>
          </a:p>
        </p:txBody>
      </p:sp>
      <p:sp>
        <p:nvSpPr>
          <p:cNvPr id="4" name="Shape 2"/>
          <p:cNvSpPr/>
          <p:nvPr/>
        </p:nvSpPr>
        <p:spPr>
          <a:xfrm>
            <a:off x="548640" y="1828800"/>
            <a:ext cx="2514600" cy="1554480"/>
          </a:xfrm>
          <a:prstGeom prst="roundRect">
            <a:avLst>
              <a:gd name="adj" fmla="val 5882"/>
            </a:avLst>
          </a:prstGeom>
          <a:solidFill>
            <a:srgbClr val="1E2761"/>
          </a:solidFill>
          <a:ln/>
          <a:effectLst>
            <a:outerShdw blurRad="101600" dist="38100" dir="5400000" algn="bl" rotWithShape="0">
              <a:srgbClr val="0F1230">
                <a:alpha val="25000"/>
              </a:srgbClr>
            </a:outerShdw>
          </a:effectLst>
        </p:spPr>
      </p:sp>
      <p:sp>
        <p:nvSpPr>
          <p:cNvPr id="5" name="Text 3"/>
          <p:cNvSpPr/>
          <p:nvPr/>
        </p:nvSpPr>
        <p:spPr>
          <a:xfrm>
            <a:off x="548640" y="1993392"/>
            <a:ext cx="2514600" cy="685800"/>
          </a:xfrm>
          <a:prstGeom prst="rect">
            <a:avLst/>
          </a:prstGeom>
          <a:noFill/>
          <a:ln/>
        </p:spPr>
        <p:txBody>
          <a:bodyPr wrap="square" rtlCol="0" anchor="ctr"/>
          <a:lstStyle/>
          <a:p>
            <a:pPr marL="0" indent="0" algn="ctr">
              <a:buNone/>
            </a:pPr>
            <a:r>
              <a:rPr lang="en-US" sz="3200" b="1" dirty="0">
                <a:solidFill>
                  <a:srgbClr val="E8A33D"/>
                </a:solidFill>
                <a:latin typeface="Cambria" pitchFamily="34" charset="0"/>
                <a:ea typeface="Cambria" pitchFamily="34" charset="-122"/>
                <a:cs typeface="Cambria" pitchFamily="34" charset="-120"/>
              </a:rPr>
              <a:t>55,500</a:t>
            </a:r>
            <a:endParaRPr lang="en-US" sz="3200" dirty="0"/>
          </a:p>
        </p:txBody>
      </p:sp>
      <p:sp>
        <p:nvSpPr>
          <p:cNvPr id="6" name="Text 4"/>
          <p:cNvSpPr/>
          <p:nvPr/>
        </p:nvSpPr>
        <p:spPr>
          <a:xfrm>
            <a:off x="548640" y="2697480"/>
            <a:ext cx="251460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admission records</a:t>
            </a:r>
            <a:endParaRPr lang="en-US" sz="1200" dirty="0"/>
          </a:p>
        </p:txBody>
      </p:sp>
      <p:sp>
        <p:nvSpPr>
          <p:cNvPr id="7" name="Shape 5"/>
          <p:cNvSpPr/>
          <p:nvPr/>
        </p:nvSpPr>
        <p:spPr>
          <a:xfrm>
            <a:off x="3291840" y="1828800"/>
            <a:ext cx="2514600" cy="1554480"/>
          </a:xfrm>
          <a:prstGeom prst="roundRect">
            <a:avLst>
              <a:gd name="adj" fmla="val 5882"/>
            </a:avLst>
          </a:prstGeom>
          <a:solidFill>
            <a:srgbClr val="1E2761"/>
          </a:solidFill>
          <a:ln/>
          <a:effectLst>
            <a:outerShdw blurRad="101600" dist="38100" dir="5400000" algn="bl" rotWithShape="0">
              <a:srgbClr val="0F1230">
                <a:alpha val="25000"/>
              </a:srgbClr>
            </a:outerShdw>
          </a:effectLst>
        </p:spPr>
      </p:sp>
      <p:sp>
        <p:nvSpPr>
          <p:cNvPr id="8" name="Text 6"/>
          <p:cNvSpPr/>
          <p:nvPr/>
        </p:nvSpPr>
        <p:spPr>
          <a:xfrm>
            <a:off x="3291840" y="1993392"/>
            <a:ext cx="2514600" cy="685800"/>
          </a:xfrm>
          <a:prstGeom prst="rect">
            <a:avLst/>
          </a:prstGeom>
          <a:noFill/>
          <a:ln/>
        </p:spPr>
        <p:txBody>
          <a:bodyPr wrap="square" rtlCol="0" anchor="ctr"/>
          <a:lstStyle/>
          <a:p>
            <a:pPr marL="0" indent="0" algn="ctr">
              <a:buNone/>
            </a:pPr>
            <a:r>
              <a:rPr lang="en-US" sz="3200" b="1" dirty="0">
                <a:solidFill>
                  <a:srgbClr val="E8A33D"/>
                </a:solidFill>
                <a:latin typeface="Cambria" pitchFamily="34" charset="0"/>
                <a:ea typeface="Cambria" pitchFamily="34" charset="-122"/>
                <a:cs typeface="Cambria" pitchFamily="34" charset="-120"/>
              </a:rPr>
              <a:t>15</a:t>
            </a:r>
            <a:endParaRPr lang="en-US" sz="3200" dirty="0"/>
          </a:p>
        </p:txBody>
      </p:sp>
      <p:sp>
        <p:nvSpPr>
          <p:cNvPr id="9" name="Text 7"/>
          <p:cNvSpPr/>
          <p:nvPr/>
        </p:nvSpPr>
        <p:spPr>
          <a:xfrm>
            <a:off x="3291840" y="2697480"/>
            <a:ext cx="251460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6035040" y="1828800"/>
            <a:ext cx="2514600" cy="1554480"/>
          </a:xfrm>
          <a:prstGeom prst="roundRect">
            <a:avLst>
              <a:gd name="adj" fmla="val 5882"/>
            </a:avLst>
          </a:prstGeom>
          <a:solidFill>
            <a:srgbClr val="1E2761"/>
          </a:solidFill>
          <a:ln/>
          <a:effectLst>
            <a:outerShdw blurRad="101600" dist="38100" dir="5400000" algn="bl" rotWithShape="0">
              <a:srgbClr val="0F1230">
                <a:alpha val="25000"/>
              </a:srgbClr>
            </a:outerShdw>
          </a:effectLst>
        </p:spPr>
      </p:sp>
      <p:sp>
        <p:nvSpPr>
          <p:cNvPr id="11" name="Text 9"/>
          <p:cNvSpPr/>
          <p:nvPr/>
        </p:nvSpPr>
        <p:spPr>
          <a:xfrm>
            <a:off x="6035040" y="1993392"/>
            <a:ext cx="2514600" cy="685800"/>
          </a:xfrm>
          <a:prstGeom prst="rect">
            <a:avLst/>
          </a:prstGeom>
          <a:noFill/>
          <a:ln/>
        </p:spPr>
        <p:txBody>
          <a:bodyPr wrap="square" rtlCol="0" anchor="ctr"/>
          <a:lstStyle/>
          <a:p>
            <a:pPr marL="0" indent="0" algn="ctr">
              <a:buNone/>
            </a:pPr>
            <a:r>
              <a:rPr lang="en-US" sz="3200" b="1" dirty="0">
                <a:solidFill>
                  <a:srgbClr val="E8A33D"/>
                </a:solidFill>
                <a:latin typeface="Cambria" pitchFamily="34" charset="0"/>
                <a:ea typeface="Cambria" pitchFamily="34" charset="-122"/>
                <a:cs typeface="Cambria" pitchFamily="34" charset="-120"/>
              </a:rPr>
              <a:t>1</a:t>
            </a:r>
            <a:endParaRPr lang="en-US" sz="3200" dirty="0"/>
          </a:p>
        </p:txBody>
      </p:sp>
      <p:sp>
        <p:nvSpPr>
          <p:cNvPr id="12" name="Text 10"/>
          <p:cNvSpPr/>
          <p:nvPr/>
        </p:nvSpPr>
        <p:spPr>
          <a:xfrm>
            <a:off x="6035040" y="2697480"/>
            <a:ext cx="251460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flat CSV, no joins</a:t>
            </a:r>
            <a:endParaRPr lang="en-US" sz="1200" dirty="0"/>
          </a:p>
        </p:txBody>
      </p:sp>
      <p:sp>
        <p:nvSpPr>
          <p:cNvPr id="13" name="Shape 11"/>
          <p:cNvSpPr/>
          <p:nvPr/>
        </p:nvSpPr>
        <p:spPr>
          <a:xfrm>
            <a:off x="8778240" y="1828800"/>
            <a:ext cx="2514600" cy="1554480"/>
          </a:xfrm>
          <a:prstGeom prst="roundRect">
            <a:avLst>
              <a:gd name="adj" fmla="val 5882"/>
            </a:avLst>
          </a:prstGeom>
          <a:solidFill>
            <a:srgbClr val="1E2761"/>
          </a:solidFill>
          <a:ln/>
          <a:effectLst>
            <a:outerShdw blurRad="101600" dist="38100" dir="5400000" algn="bl" rotWithShape="0">
              <a:srgbClr val="0F1230">
                <a:alpha val="25000"/>
              </a:srgbClr>
            </a:outerShdw>
          </a:effectLst>
        </p:spPr>
      </p:sp>
      <p:sp>
        <p:nvSpPr>
          <p:cNvPr id="14" name="Text 12"/>
          <p:cNvSpPr/>
          <p:nvPr/>
        </p:nvSpPr>
        <p:spPr>
          <a:xfrm>
            <a:off x="8778240" y="1993392"/>
            <a:ext cx="2514600" cy="685800"/>
          </a:xfrm>
          <a:prstGeom prst="rect">
            <a:avLst/>
          </a:prstGeom>
          <a:noFill/>
          <a:ln/>
        </p:spPr>
        <p:txBody>
          <a:bodyPr wrap="square" rtlCol="0" anchor="ctr"/>
          <a:lstStyle/>
          <a:p>
            <a:pPr marL="0" indent="0" algn="ctr">
              <a:buNone/>
            </a:pPr>
            <a:r>
              <a:rPr lang="en-US" sz="3200" b="1" dirty="0">
                <a:solidFill>
                  <a:srgbClr val="E8A33D"/>
                </a:solidFill>
                <a:latin typeface="Cambria" pitchFamily="34" charset="0"/>
                <a:ea typeface="Cambria" pitchFamily="34" charset="-122"/>
                <a:cs typeface="Cambria" pitchFamily="34" charset="-120"/>
              </a:rPr>
              <a:t>6</a:t>
            </a:r>
            <a:endParaRPr lang="en-US" sz="3200" dirty="0"/>
          </a:p>
        </p:txBody>
      </p:sp>
      <p:sp>
        <p:nvSpPr>
          <p:cNvPr id="15" name="Text 13"/>
          <p:cNvSpPr/>
          <p:nvPr/>
        </p:nvSpPr>
        <p:spPr>
          <a:xfrm>
            <a:off x="8778240" y="2697480"/>
            <a:ext cx="251460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categorical fields</a:t>
            </a:r>
            <a:endParaRPr lang="en-US" sz="1200" dirty="0"/>
          </a:p>
        </p:txBody>
      </p:sp>
      <p:sp>
        <p:nvSpPr>
          <p:cNvPr id="16" name="Text 14"/>
          <p:cNvSpPr/>
          <p:nvPr/>
        </p:nvSpPr>
        <p:spPr>
          <a:xfrm>
            <a:off x="548640" y="3749040"/>
            <a:ext cx="5486400" cy="365760"/>
          </a:xfrm>
          <a:prstGeom prst="rect">
            <a:avLst/>
          </a:prstGeom>
          <a:noFill/>
          <a:ln/>
        </p:spPr>
        <p:txBody>
          <a:bodyPr wrap="square" rtlCol="0" anchor="ctr"/>
          <a:lstStyle/>
          <a:p>
            <a:pPr marL="0" indent="0">
              <a:buNone/>
            </a:pPr>
            <a:r>
              <a:rPr lang="en-US" sz="1400" b="1" dirty="0">
                <a:solidFill>
                  <a:srgbClr val="1A1D29"/>
                </a:solidFill>
                <a:latin typeface="Calibri" pitchFamily="34" charset="0"/>
                <a:ea typeface="Calibri" pitchFamily="34" charset="-122"/>
                <a:cs typeface="Calibri" pitchFamily="34" charset="-120"/>
              </a:rPr>
              <a:t>Grain: one row = one hospital admission</a:t>
            </a:r>
            <a:endParaRPr lang="en-US" sz="1400" dirty="0"/>
          </a:p>
        </p:txBody>
      </p:sp>
      <p:sp>
        <p:nvSpPr>
          <p:cNvPr id="17" name="Shape 15"/>
          <p:cNvSpPr/>
          <p:nvPr/>
        </p:nvSpPr>
        <p:spPr>
          <a:xfrm>
            <a:off x="548640" y="4251960"/>
            <a:ext cx="3337560" cy="502920"/>
          </a:xfrm>
          <a:prstGeom prst="roundRect">
            <a:avLst>
              <a:gd name="adj" fmla="val 14545"/>
            </a:avLst>
          </a:prstGeom>
          <a:solidFill>
            <a:srgbClr val="F4F6FB"/>
          </a:solidFill>
          <a:ln/>
        </p:spPr>
      </p:sp>
      <p:sp>
        <p:nvSpPr>
          <p:cNvPr id="18" name="Text 16"/>
          <p:cNvSpPr/>
          <p:nvPr/>
        </p:nvSpPr>
        <p:spPr>
          <a:xfrm>
            <a:off x="685800" y="42519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Name, Age, Gender, Blood Type</a:t>
            </a:r>
            <a:endParaRPr lang="en-US" sz="1100" dirty="0"/>
          </a:p>
        </p:txBody>
      </p:sp>
      <p:sp>
        <p:nvSpPr>
          <p:cNvPr id="19" name="Shape 17"/>
          <p:cNvSpPr/>
          <p:nvPr/>
        </p:nvSpPr>
        <p:spPr>
          <a:xfrm>
            <a:off x="4069080" y="4251960"/>
            <a:ext cx="3337560" cy="502920"/>
          </a:xfrm>
          <a:prstGeom prst="roundRect">
            <a:avLst>
              <a:gd name="adj" fmla="val 14545"/>
            </a:avLst>
          </a:prstGeom>
          <a:solidFill>
            <a:srgbClr val="F4F6FB"/>
          </a:solidFill>
          <a:ln/>
        </p:spPr>
      </p:sp>
      <p:sp>
        <p:nvSpPr>
          <p:cNvPr id="20" name="Text 18"/>
          <p:cNvSpPr/>
          <p:nvPr/>
        </p:nvSpPr>
        <p:spPr>
          <a:xfrm>
            <a:off x="4206240" y="42519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Medical Condition, Doctor, Hospital</a:t>
            </a:r>
            <a:endParaRPr lang="en-US" sz="1100" dirty="0"/>
          </a:p>
        </p:txBody>
      </p:sp>
      <p:sp>
        <p:nvSpPr>
          <p:cNvPr id="21" name="Shape 19"/>
          <p:cNvSpPr/>
          <p:nvPr/>
        </p:nvSpPr>
        <p:spPr>
          <a:xfrm>
            <a:off x="7589520" y="4251960"/>
            <a:ext cx="3337560" cy="502920"/>
          </a:xfrm>
          <a:prstGeom prst="roundRect">
            <a:avLst>
              <a:gd name="adj" fmla="val 14545"/>
            </a:avLst>
          </a:prstGeom>
          <a:solidFill>
            <a:srgbClr val="F4F6FB"/>
          </a:solidFill>
          <a:ln/>
        </p:spPr>
      </p:sp>
      <p:sp>
        <p:nvSpPr>
          <p:cNvPr id="22" name="Text 20"/>
          <p:cNvSpPr/>
          <p:nvPr/>
        </p:nvSpPr>
        <p:spPr>
          <a:xfrm>
            <a:off x="7726680" y="42519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Insurance Provider, Billing Amount</a:t>
            </a:r>
            <a:endParaRPr lang="en-US" sz="1100" dirty="0"/>
          </a:p>
        </p:txBody>
      </p:sp>
      <p:sp>
        <p:nvSpPr>
          <p:cNvPr id="23" name="Shape 21"/>
          <p:cNvSpPr/>
          <p:nvPr/>
        </p:nvSpPr>
        <p:spPr>
          <a:xfrm>
            <a:off x="548640" y="4937760"/>
            <a:ext cx="3337560" cy="502920"/>
          </a:xfrm>
          <a:prstGeom prst="roundRect">
            <a:avLst>
              <a:gd name="adj" fmla="val 14545"/>
            </a:avLst>
          </a:prstGeom>
          <a:solidFill>
            <a:srgbClr val="F4F6FB"/>
          </a:solidFill>
          <a:ln/>
        </p:spPr>
      </p:sp>
      <p:sp>
        <p:nvSpPr>
          <p:cNvPr id="24" name="Text 22"/>
          <p:cNvSpPr/>
          <p:nvPr/>
        </p:nvSpPr>
        <p:spPr>
          <a:xfrm>
            <a:off x="685800" y="49377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Room Number, Admission Type</a:t>
            </a:r>
            <a:endParaRPr lang="en-US" sz="1100" dirty="0"/>
          </a:p>
        </p:txBody>
      </p:sp>
      <p:sp>
        <p:nvSpPr>
          <p:cNvPr id="25" name="Shape 23"/>
          <p:cNvSpPr/>
          <p:nvPr/>
        </p:nvSpPr>
        <p:spPr>
          <a:xfrm>
            <a:off x="4069080" y="4937760"/>
            <a:ext cx="3337560" cy="502920"/>
          </a:xfrm>
          <a:prstGeom prst="roundRect">
            <a:avLst>
              <a:gd name="adj" fmla="val 14545"/>
            </a:avLst>
          </a:prstGeom>
          <a:solidFill>
            <a:srgbClr val="F4F6FB"/>
          </a:solidFill>
          <a:ln/>
        </p:spPr>
      </p:sp>
      <p:sp>
        <p:nvSpPr>
          <p:cNvPr id="26" name="Text 24"/>
          <p:cNvSpPr/>
          <p:nvPr/>
        </p:nvSpPr>
        <p:spPr>
          <a:xfrm>
            <a:off x="4206240" y="49377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Date of Admission, Discharge Date</a:t>
            </a:r>
            <a:endParaRPr lang="en-US" sz="1100" dirty="0"/>
          </a:p>
        </p:txBody>
      </p:sp>
      <p:sp>
        <p:nvSpPr>
          <p:cNvPr id="27" name="Shape 25"/>
          <p:cNvSpPr/>
          <p:nvPr/>
        </p:nvSpPr>
        <p:spPr>
          <a:xfrm>
            <a:off x="7589520" y="4937760"/>
            <a:ext cx="3337560" cy="502920"/>
          </a:xfrm>
          <a:prstGeom prst="roundRect">
            <a:avLst>
              <a:gd name="adj" fmla="val 14545"/>
            </a:avLst>
          </a:prstGeom>
          <a:solidFill>
            <a:srgbClr val="F4F6FB"/>
          </a:solidFill>
          <a:ln/>
        </p:spPr>
      </p:sp>
      <p:sp>
        <p:nvSpPr>
          <p:cNvPr id="28" name="Text 26"/>
          <p:cNvSpPr/>
          <p:nvPr/>
        </p:nvSpPr>
        <p:spPr>
          <a:xfrm>
            <a:off x="7726680" y="4937760"/>
            <a:ext cx="3063240" cy="502920"/>
          </a:xfrm>
          <a:prstGeom prst="rect">
            <a:avLst/>
          </a:prstGeom>
          <a:noFill/>
          <a:ln/>
        </p:spPr>
        <p:txBody>
          <a:bodyPr wrap="square" rtlCol="0" anchor="ctr"/>
          <a:lstStyle/>
          <a:p>
            <a:pPr marL="0" indent="0">
              <a:buNone/>
            </a:pPr>
            <a:r>
              <a:rPr lang="en-US" sz="1100" dirty="0">
                <a:solidFill>
                  <a:srgbClr val="1A1D29"/>
                </a:solidFill>
                <a:latin typeface="Calibri" pitchFamily="34" charset="0"/>
                <a:ea typeface="Calibri" pitchFamily="34" charset="-122"/>
                <a:cs typeface="Calibri" pitchFamily="34" charset="-120"/>
              </a:rPr>
              <a:t>Medication, Test Results</a:t>
            </a:r>
            <a:endParaRPr lang="en-US" sz="1100" dirty="0"/>
          </a:p>
        </p:txBody>
      </p:sp>
      <p:sp>
        <p:nvSpPr>
          <p:cNvPr id="29" name="Text 27"/>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Chosen for its mix of low- and high-cardinality fields</a:t>
            </a:r>
            <a:endParaRPr lang="en-US" sz="1000" dirty="0"/>
          </a:p>
        </p:txBody>
      </p:sp>
      <p:sp>
        <p:nvSpPr>
          <p:cNvPr id="30" name="Text 28"/>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Lab 1 — What's Broken in the Data</a:t>
            </a:r>
            <a:endParaRPr lang="en-US" sz="3000" dirty="0"/>
          </a:p>
        </p:txBody>
      </p:sp>
      <p:sp>
        <p:nvSpPr>
          <p:cNvPr id="3" name="Text 1"/>
          <p:cNvSpPr/>
          <p:nvPr/>
        </p:nvSpPr>
        <p:spPr>
          <a:xfrm>
            <a:off x="548640" y="960120"/>
            <a:ext cx="10515600" cy="45720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For hospital administrators and insurance analysts to trust this data, three issues had to be surfaced first.</a:t>
            </a:r>
            <a:endParaRPr lang="en-US" sz="1400" dirty="0"/>
          </a:p>
        </p:txBody>
      </p:sp>
      <p:sp>
        <p:nvSpPr>
          <p:cNvPr id="4" name="Shape 2"/>
          <p:cNvSpPr/>
          <p:nvPr/>
        </p:nvSpPr>
        <p:spPr>
          <a:xfrm>
            <a:off x="548640" y="187452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5" name="Text 3"/>
          <p:cNvSpPr/>
          <p:nvPr/>
        </p:nvSpPr>
        <p:spPr>
          <a:xfrm>
            <a:off x="822960" y="2194560"/>
            <a:ext cx="3017520" cy="7772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534</a:t>
            </a:r>
            <a:endParaRPr lang="en-US" sz="3000" dirty="0"/>
          </a:p>
        </p:txBody>
      </p:sp>
      <p:sp>
        <p:nvSpPr>
          <p:cNvPr id="6" name="Text 4"/>
          <p:cNvSpPr/>
          <p:nvPr/>
        </p:nvSpPr>
        <p:spPr>
          <a:xfrm>
            <a:off x="822960" y="3017520"/>
            <a:ext cx="3017520" cy="502920"/>
          </a:xfrm>
          <a:prstGeom prst="rect">
            <a:avLst/>
          </a:prstGeom>
          <a:noFill/>
          <a:ln/>
        </p:spPr>
        <p:txBody>
          <a:bodyPr wrap="square" rtlCol="0" anchor="ctr"/>
          <a:lstStyle/>
          <a:p>
            <a:pPr marL="0" indent="0">
              <a:buNone/>
            </a:pPr>
            <a:r>
              <a:rPr lang="en-US" sz="1700" b="1" dirty="0">
                <a:solidFill>
                  <a:srgbClr val="1A1D29"/>
                </a:solidFill>
                <a:latin typeface="Cambria" pitchFamily="34" charset="0"/>
                <a:ea typeface="Cambria" pitchFamily="34" charset="-122"/>
                <a:cs typeface="Cambria" pitchFamily="34" charset="-120"/>
              </a:rPr>
              <a:t>Duplicate Records</a:t>
            </a:r>
            <a:endParaRPr lang="en-US" sz="1700" dirty="0"/>
          </a:p>
        </p:txBody>
      </p:sp>
      <p:sp>
        <p:nvSpPr>
          <p:cNvPr id="7" name="Text 5"/>
          <p:cNvSpPr/>
          <p:nvPr/>
        </p:nvSpPr>
        <p:spPr>
          <a:xfrm>
            <a:off x="822960" y="3566160"/>
            <a:ext cx="3017520" cy="2286000"/>
          </a:xfrm>
          <a:prstGeom prst="rect">
            <a:avLst/>
          </a:prstGeom>
          <a:noFill/>
          <a:ln/>
        </p:spPr>
        <p:txBody>
          <a:bodyPr wrap="square" rtlCol="0" anchor="t"/>
          <a:lstStyle/>
          <a:p>
            <a:pPr marL="0" indent="0">
              <a:buNone/>
            </a:pPr>
            <a:r>
              <a:rPr lang="en-US" sz="1250" dirty="0">
                <a:solidFill>
                  <a:srgbClr val="6B7280"/>
                </a:solidFill>
                <a:latin typeface="Calibri" pitchFamily="34" charset="0"/>
                <a:ea typeface="Calibri" pitchFamily="34" charset="-122"/>
                <a:cs typeface="Calibri" pitchFamily="34" charset="-120"/>
              </a:rPr>
              <a:t>Full-row duplicates that would inflate patient volume and room/bed usage in any downstream aggregation.</a:t>
            </a:r>
            <a:endParaRPr lang="en-US" sz="1250" dirty="0"/>
          </a:p>
        </p:txBody>
      </p:sp>
      <p:sp>
        <p:nvSpPr>
          <p:cNvPr id="8" name="Shape 6"/>
          <p:cNvSpPr/>
          <p:nvPr/>
        </p:nvSpPr>
        <p:spPr>
          <a:xfrm>
            <a:off x="4434840" y="187452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9" name="Text 7"/>
          <p:cNvSpPr/>
          <p:nvPr/>
        </p:nvSpPr>
        <p:spPr>
          <a:xfrm>
            <a:off x="4709160" y="2194560"/>
            <a:ext cx="3017520" cy="7772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-$2,008</a:t>
            </a:r>
            <a:endParaRPr lang="en-US" sz="3000" dirty="0"/>
          </a:p>
        </p:txBody>
      </p:sp>
      <p:sp>
        <p:nvSpPr>
          <p:cNvPr id="10" name="Text 8"/>
          <p:cNvSpPr/>
          <p:nvPr/>
        </p:nvSpPr>
        <p:spPr>
          <a:xfrm>
            <a:off x="4709160" y="3017520"/>
            <a:ext cx="3017520" cy="502920"/>
          </a:xfrm>
          <a:prstGeom prst="rect">
            <a:avLst/>
          </a:prstGeom>
          <a:noFill/>
          <a:ln/>
        </p:spPr>
        <p:txBody>
          <a:bodyPr wrap="square" rtlCol="0" anchor="ctr"/>
          <a:lstStyle/>
          <a:p>
            <a:pPr marL="0" indent="0">
              <a:buNone/>
            </a:pPr>
            <a:r>
              <a:rPr lang="en-US" sz="1700" b="1" dirty="0">
                <a:solidFill>
                  <a:srgbClr val="1A1D29"/>
                </a:solidFill>
                <a:latin typeface="Cambria" pitchFamily="34" charset="0"/>
                <a:ea typeface="Cambria" pitchFamily="34" charset="-122"/>
                <a:cs typeface="Cambria" pitchFamily="34" charset="-120"/>
              </a:rPr>
              <a:t>Negative Billing</a:t>
            </a:r>
            <a:endParaRPr lang="en-US" sz="1700" dirty="0"/>
          </a:p>
        </p:txBody>
      </p:sp>
      <p:sp>
        <p:nvSpPr>
          <p:cNvPr id="11" name="Text 9"/>
          <p:cNvSpPr/>
          <p:nvPr/>
        </p:nvSpPr>
        <p:spPr>
          <a:xfrm>
            <a:off x="4709160" y="3566160"/>
            <a:ext cx="3017520" cy="2286000"/>
          </a:xfrm>
          <a:prstGeom prst="rect">
            <a:avLst/>
          </a:prstGeom>
          <a:noFill/>
          <a:ln/>
        </p:spPr>
        <p:txBody>
          <a:bodyPr wrap="square" rtlCol="0" anchor="t"/>
          <a:lstStyle/>
          <a:p>
            <a:pPr marL="0" indent="0">
              <a:buNone/>
            </a:pPr>
            <a:r>
              <a:rPr lang="en-US" sz="1250" dirty="0">
                <a:solidFill>
                  <a:srgbClr val="6B7280"/>
                </a:solidFill>
                <a:latin typeface="Calibri" pitchFamily="34" charset="0"/>
                <a:ea typeface="Calibri" pitchFamily="34" charset="-122"/>
                <a:cs typeface="Calibri" pitchFamily="34" charset="-120"/>
              </a:rPr>
              <a:t>Minimum billing amount observed, against a mean of ~$25,539 — a bill cannot be negative.</a:t>
            </a:r>
            <a:endParaRPr lang="en-US" sz="1250" dirty="0"/>
          </a:p>
        </p:txBody>
      </p:sp>
      <p:sp>
        <p:nvSpPr>
          <p:cNvPr id="12" name="Shape 10"/>
          <p:cNvSpPr/>
          <p:nvPr/>
        </p:nvSpPr>
        <p:spPr>
          <a:xfrm>
            <a:off x="8321040" y="1874520"/>
            <a:ext cx="3566160" cy="4206240"/>
          </a:xfrm>
          <a:prstGeom prst="roundRect">
            <a:avLst>
              <a:gd name="adj" fmla="val 3077"/>
            </a:avLst>
          </a:prstGeom>
          <a:solidFill>
            <a:srgbClr val="F4F6FB"/>
          </a:solidFill>
          <a:ln/>
          <a:effectLst>
            <a:outerShdw blurRad="101600" dist="38100" dir="5400000" algn="bl" rotWithShape="0">
              <a:srgbClr val="0F1230">
                <a:alpha val="25000"/>
              </a:srgbClr>
            </a:outerShdw>
          </a:effectLst>
        </p:spPr>
      </p:sp>
      <p:sp>
        <p:nvSpPr>
          <p:cNvPr id="13" name="Text 11"/>
          <p:cNvSpPr/>
          <p:nvPr/>
        </p:nvSpPr>
        <p:spPr>
          <a:xfrm>
            <a:off x="8595360" y="2194560"/>
            <a:ext cx="3017520" cy="7772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Aa/aA</a:t>
            </a:r>
            <a:endParaRPr lang="en-US" sz="3000" dirty="0"/>
          </a:p>
        </p:txBody>
      </p:sp>
      <p:sp>
        <p:nvSpPr>
          <p:cNvPr id="14" name="Text 12"/>
          <p:cNvSpPr/>
          <p:nvPr/>
        </p:nvSpPr>
        <p:spPr>
          <a:xfrm>
            <a:off x="8595360" y="3017520"/>
            <a:ext cx="3017520" cy="502920"/>
          </a:xfrm>
          <a:prstGeom prst="rect">
            <a:avLst/>
          </a:prstGeom>
          <a:noFill/>
          <a:ln/>
        </p:spPr>
        <p:txBody>
          <a:bodyPr wrap="square" rtlCol="0" anchor="ctr"/>
          <a:lstStyle/>
          <a:p>
            <a:pPr marL="0" indent="0">
              <a:buNone/>
            </a:pPr>
            <a:r>
              <a:rPr lang="en-US" sz="1700" b="1" dirty="0">
                <a:solidFill>
                  <a:srgbClr val="1A1D29"/>
                </a:solidFill>
                <a:latin typeface="Cambria" pitchFamily="34" charset="0"/>
                <a:ea typeface="Cambria" pitchFamily="34" charset="-122"/>
                <a:cs typeface="Cambria" pitchFamily="34" charset="-120"/>
              </a:rPr>
              <a:t>Inconsistent Casing</a:t>
            </a:r>
            <a:endParaRPr lang="en-US" sz="1700" dirty="0"/>
          </a:p>
        </p:txBody>
      </p:sp>
      <p:sp>
        <p:nvSpPr>
          <p:cNvPr id="15" name="Text 13"/>
          <p:cNvSpPr/>
          <p:nvPr/>
        </p:nvSpPr>
        <p:spPr>
          <a:xfrm>
            <a:off x="8595360" y="3566160"/>
            <a:ext cx="3017520" cy="2286000"/>
          </a:xfrm>
          <a:prstGeom prst="rect">
            <a:avLst/>
          </a:prstGeom>
          <a:noFill/>
          <a:ln/>
        </p:spPr>
        <p:txBody>
          <a:bodyPr wrap="square" rtlCol="0" anchor="t"/>
          <a:lstStyle/>
          <a:p>
            <a:pPr marL="0" indent="0">
              <a:buNone/>
            </a:pPr>
            <a:r>
              <a:rPr lang="en-US" sz="1250" dirty="0">
                <a:solidFill>
                  <a:srgbClr val="6B7280"/>
                </a:solidFill>
                <a:latin typeface="Calibri" pitchFamily="34" charset="0"/>
                <a:ea typeface="Calibri" pitchFamily="34" charset="-122"/>
                <a:cs typeface="Calibri" pitchFamily="34" charset="-120"/>
              </a:rPr>
              <a:t>Names like "Bobby JacksOn" break exact-match joins and likely mask further hidden duplicates.</a:t>
            </a:r>
            <a:endParaRPr lang="en-US" sz="1250" dirty="0"/>
          </a:p>
        </p:txBody>
      </p:sp>
      <p:sp>
        <p:nvSpPr>
          <p:cNvPr id="16" name="Text 14"/>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Data Problem Statement · Lab 1 deliverable</a:t>
            </a:r>
            <a:endParaRPr lang="en-US" sz="1000" dirty="0"/>
          </a:p>
        </p:txBody>
      </p:sp>
      <p:sp>
        <p:nvSpPr>
          <p:cNvPr id="17" name="Text 15"/>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Lab 2 — A Deliberate Hybrid Schema</a:t>
            </a:r>
            <a:endParaRPr lang="en-US" sz="3000" dirty="0"/>
          </a:p>
        </p:txBody>
      </p:sp>
      <p:sp>
        <p:nvSpPr>
          <p:cNvPr id="3" name="Text 1"/>
          <p:cNvSpPr/>
          <p:nvPr/>
        </p:nvSpPr>
        <p:spPr>
          <a:xfrm>
            <a:off x="548640" y="1033272"/>
            <a:ext cx="105156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Not one big table, and not a star schema — the split follows the evidence</a:t>
            </a:r>
            <a:endParaRPr lang="en-US" sz="1400" dirty="0"/>
          </a:p>
        </p:txBody>
      </p:sp>
      <p:sp>
        <p:nvSpPr>
          <p:cNvPr id="4" name="Text 2"/>
          <p:cNvSpPr/>
          <p:nvPr/>
        </p:nvSpPr>
        <p:spPr>
          <a:xfrm>
            <a:off x="548640" y="1600200"/>
            <a:ext cx="5029200" cy="320040"/>
          </a:xfrm>
          <a:prstGeom prst="rect">
            <a:avLst/>
          </a:prstGeom>
          <a:noFill/>
          <a:ln/>
        </p:spPr>
        <p:txBody>
          <a:bodyPr wrap="square" rtlCol="0" anchor="ctr"/>
          <a:lstStyle/>
          <a:p>
            <a:pPr marL="0" indent="0">
              <a:buNone/>
            </a:pPr>
            <a:r>
              <a:rPr lang="en-US" sz="1300" b="1" dirty="0">
                <a:solidFill>
                  <a:srgbClr val="1A1D29"/>
                </a:solidFill>
                <a:latin typeface="Calibri" pitchFamily="34" charset="0"/>
                <a:ea typeface="Calibri" pitchFamily="34" charset="-122"/>
                <a:cs typeface="Calibri" pitchFamily="34" charset="-120"/>
              </a:rPr>
              <a:t>Distinct values across 55,500 rows</a:t>
            </a:r>
            <a:endParaRPr lang="en-US" sz="1300" dirty="0"/>
          </a:p>
        </p:txBody>
      </p:sp>
      <p:sp>
        <p:nvSpPr>
          <p:cNvPr id="5" name="Shape 3"/>
          <p:cNvSpPr/>
          <p:nvPr/>
        </p:nvSpPr>
        <p:spPr>
          <a:xfrm>
            <a:off x="548640" y="2011680"/>
            <a:ext cx="5394960" cy="384048"/>
          </a:xfrm>
          <a:prstGeom prst="rect">
            <a:avLst/>
          </a:prstGeom>
          <a:solidFill>
            <a:srgbClr val="F4F6FB"/>
          </a:solidFill>
          <a:ln/>
        </p:spPr>
      </p:sp>
      <p:sp>
        <p:nvSpPr>
          <p:cNvPr id="6" name="Text 4"/>
          <p:cNvSpPr/>
          <p:nvPr/>
        </p:nvSpPr>
        <p:spPr>
          <a:xfrm>
            <a:off x="685800" y="2011680"/>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Gender</a:t>
            </a:r>
            <a:endParaRPr lang="en-US" sz="1150" dirty="0"/>
          </a:p>
        </p:txBody>
      </p:sp>
      <p:sp>
        <p:nvSpPr>
          <p:cNvPr id="7" name="Text 5"/>
          <p:cNvSpPr/>
          <p:nvPr/>
        </p:nvSpPr>
        <p:spPr>
          <a:xfrm>
            <a:off x="3063240" y="2011680"/>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2</a:t>
            </a:r>
            <a:endParaRPr lang="en-US" sz="1150" dirty="0"/>
          </a:p>
        </p:txBody>
      </p:sp>
      <p:sp>
        <p:nvSpPr>
          <p:cNvPr id="8" name="Text 6"/>
          <p:cNvSpPr/>
          <p:nvPr/>
        </p:nvSpPr>
        <p:spPr>
          <a:xfrm>
            <a:off x="3977640" y="2011680"/>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9" name="Shape 7"/>
          <p:cNvSpPr/>
          <p:nvPr/>
        </p:nvSpPr>
        <p:spPr>
          <a:xfrm>
            <a:off x="548640" y="2395728"/>
            <a:ext cx="5394960" cy="384048"/>
          </a:xfrm>
          <a:prstGeom prst="rect">
            <a:avLst/>
          </a:prstGeom>
          <a:solidFill>
            <a:srgbClr val="FFFFFF"/>
          </a:solidFill>
          <a:ln/>
        </p:spPr>
      </p:sp>
      <p:sp>
        <p:nvSpPr>
          <p:cNvPr id="10" name="Text 8"/>
          <p:cNvSpPr/>
          <p:nvPr/>
        </p:nvSpPr>
        <p:spPr>
          <a:xfrm>
            <a:off x="685800" y="2395728"/>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Admission Type</a:t>
            </a:r>
            <a:endParaRPr lang="en-US" sz="1150" dirty="0"/>
          </a:p>
        </p:txBody>
      </p:sp>
      <p:sp>
        <p:nvSpPr>
          <p:cNvPr id="11" name="Text 9"/>
          <p:cNvSpPr/>
          <p:nvPr/>
        </p:nvSpPr>
        <p:spPr>
          <a:xfrm>
            <a:off x="3063240" y="2395728"/>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3</a:t>
            </a:r>
            <a:endParaRPr lang="en-US" sz="1150" dirty="0"/>
          </a:p>
        </p:txBody>
      </p:sp>
      <p:sp>
        <p:nvSpPr>
          <p:cNvPr id="12" name="Text 10"/>
          <p:cNvSpPr/>
          <p:nvPr/>
        </p:nvSpPr>
        <p:spPr>
          <a:xfrm>
            <a:off x="3977640" y="2395728"/>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13" name="Shape 11"/>
          <p:cNvSpPr/>
          <p:nvPr/>
        </p:nvSpPr>
        <p:spPr>
          <a:xfrm>
            <a:off x="548640" y="2779776"/>
            <a:ext cx="5394960" cy="384048"/>
          </a:xfrm>
          <a:prstGeom prst="rect">
            <a:avLst/>
          </a:prstGeom>
          <a:solidFill>
            <a:srgbClr val="F4F6FB"/>
          </a:solidFill>
          <a:ln/>
        </p:spPr>
      </p:sp>
      <p:sp>
        <p:nvSpPr>
          <p:cNvPr id="14" name="Text 12"/>
          <p:cNvSpPr/>
          <p:nvPr/>
        </p:nvSpPr>
        <p:spPr>
          <a:xfrm>
            <a:off x="685800" y="2779776"/>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Test Results</a:t>
            </a:r>
            <a:endParaRPr lang="en-US" sz="1150" dirty="0"/>
          </a:p>
        </p:txBody>
      </p:sp>
      <p:sp>
        <p:nvSpPr>
          <p:cNvPr id="15" name="Text 13"/>
          <p:cNvSpPr/>
          <p:nvPr/>
        </p:nvSpPr>
        <p:spPr>
          <a:xfrm>
            <a:off x="3063240" y="2779776"/>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3</a:t>
            </a:r>
            <a:endParaRPr lang="en-US" sz="1150" dirty="0"/>
          </a:p>
        </p:txBody>
      </p:sp>
      <p:sp>
        <p:nvSpPr>
          <p:cNvPr id="16" name="Text 14"/>
          <p:cNvSpPr/>
          <p:nvPr/>
        </p:nvSpPr>
        <p:spPr>
          <a:xfrm>
            <a:off x="3977640" y="2779776"/>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17" name="Shape 15"/>
          <p:cNvSpPr/>
          <p:nvPr/>
        </p:nvSpPr>
        <p:spPr>
          <a:xfrm>
            <a:off x="548640" y="3163824"/>
            <a:ext cx="5394960" cy="384048"/>
          </a:xfrm>
          <a:prstGeom prst="rect">
            <a:avLst/>
          </a:prstGeom>
          <a:solidFill>
            <a:srgbClr val="FFFFFF"/>
          </a:solidFill>
          <a:ln/>
        </p:spPr>
      </p:sp>
      <p:sp>
        <p:nvSpPr>
          <p:cNvPr id="18" name="Text 16"/>
          <p:cNvSpPr/>
          <p:nvPr/>
        </p:nvSpPr>
        <p:spPr>
          <a:xfrm>
            <a:off x="685800" y="3163824"/>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Insurance Provider</a:t>
            </a:r>
            <a:endParaRPr lang="en-US" sz="1150" dirty="0"/>
          </a:p>
        </p:txBody>
      </p:sp>
      <p:sp>
        <p:nvSpPr>
          <p:cNvPr id="19" name="Text 17"/>
          <p:cNvSpPr/>
          <p:nvPr/>
        </p:nvSpPr>
        <p:spPr>
          <a:xfrm>
            <a:off x="3063240" y="3163824"/>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5</a:t>
            </a:r>
            <a:endParaRPr lang="en-US" sz="1150" dirty="0"/>
          </a:p>
        </p:txBody>
      </p:sp>
      <p:sp>
        <p:nvSpPr>
          <p:cNvPr id="20" name="Text 18"/>
          <p:cNvSpPr/>
          <p:nvPr/>
        </p:nvSpPr>
        <p:spPr>
          <a:xfrm>
            <a:off x="3977640" y="3163824"/>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21" name="Shape 19"/>
          <p:cNvSpPr/>
          <p:nvPr/>
        </p:nvSpPr>
        <p:spPr>
          <a:xfrm>
            <a:off x="548640" y="3547872"/>
            <a:ext cx="5394960" cy="384048"/>
          </a:xfrm>
          <a:prstGeom prst="rect">
            <a:avLst/>
          </a:prstGeom>
          <a:solidFill>
            <a:srgbClr val="F4F6FB"/>
          </a:solidFill>
          <a:ln/>
        </p:spPr>
      </p:sp>
      <p:sp>
        <p:nvSpPr>
          <p:cNvPr id="22" name="Text 20"/>
          <p:cNvSpPr/>
          <p:nvPr/>
        </p:nvSpPr>
        <p:spPr>
          <a:xfrm>
            <a:off x="685800" y="3547872"/>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Medical Condition</a:t>
            </a:r>
            <a:endParaRPr lang="en-US" sz="1150" dirty="0"/>
          </a:p>
        </p:txBody>
      </p:sp>
      <p:sp>
        <p:nvSpPr>
          <p:cNvPr id="23" name="Text 21"/>
          <p:cNvSpPr/>
          <p:nvPr/>
        </p:nvSpPr>
        <p:spPr>
          <a:xfrm>
            <a:off x="3063240" y="3547872"/>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6</a:t>
            </a:r>
            <a:endParaRPr lang="en-US" sz="1150" dirty="0"/>
          </a:p>
        </p:txBody>
      </p:sp>
      <p:sp>
        <p:nvSpPr>
          <p:cNvPr id="24" name="Text 22"/>
          <p:cNvSpPr/>
          <p:nvPr/>
        </p:nvSpPr>
        <p:spPr>
          <a:xfrm>
            <a:off x="3977640" y="3547872"/>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25" name="Shape 23"/>
          <p:cNvSpPr/>
          <p:nvPr/>
        </p:nvSpPr>
        <p:spPr>
          <a:xfrm>
            <a:off x="548640" y="3931920"/>
            <a:ext cx="5394960" cy="384048"/>
          </a:xfrm>
          <a:prstGeom prst="rect">
            <a:avLst/>
          </a:prstGeom>
          <a:solidFill>
            <a:srgbClr val="FFFFFF"/>
          </a:solidFill>
          <a:ln/>
        </p:spPr>
      </p:sp>
      <p:sp>
        <p:nvSpPr>
          <p:cNvPr id="26" name="Text 24"/>
          <p:cNvSpPr/>
          <p:nvPr/>
        </p:nvSpPr>
        <p:spPr>
          <a:xfrm>
            <a:off x="685800" y="3931920"/>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Blood Type</a:t>
            </a:r>
            <a:endParaRPr lang="en-US" sz="1150" dirty="0"/>
          </a:p>
        </p:txBody>
      </p:sp>
      <p:sp>
        <p:nvSpPr>
          <p:cNvPr id="27" name="Text 25"/>
          <p:cNvSpPr/>
          <p:nvPr/>
        </p:nvSpPr>
        <p:spPr>
          <a:xfrm>
            <a:off x="3063240" y="3931920"/>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8</a:t>
            </a:r>
            <a:endParaRPr lang="en-US" sz="1150" dirty="0"/>
          </a:p>
        </p:txBody>
      </p:sp>
      <p:sp>
        <p:nvSpPr>
          <p:cNvPr id="28" name="Text 26"/>
          <p:cNvSpPr/>
          <p:nvPr/>
        </p:nvSpPr>
        <p:spPr>
          <a:xfrm>
            <a:off x="3977640" y="3931920"/>
            <a:ext cx="1874520" cy="384048"/>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Lookup table</a:t>
            </a:r>
            <a:endParaRPr lang="en-US" sz="1100" dirty="0"/>
          </a:p>
        </p:txBody>
      </p:sp>
      <p:sp>
        <p:nvSpPr>
          <p:cNvPr id="29" name="Shape 27"/>
          <p:cNvSpPr/>
          <p:nvPr/>
        </p:nvSpPr>
        <p:spPr>
          <a:xfrm>
            <a:off x="548640" y="4315968"/>
            <a:ext cx="5394960" cy="384048"/>
          </a:xfrm>
          <a:prstGeom prst="rect">
            <a:avLst/>
          </a:prstGeom>
          <a:solidFill>
            <a:srgbClr val="F4F6FB"/>
          </a:solidFill>
          <a:ln/>
        </p:spPr>
      </p:sp>
      <p:sp>
        <p:nvSpPr>
          <p:cNvPr id="30" name="Text 28"/>
          <p:cNvSpPr/>
          <p:nvPr/>
        </p:nvSpPr>
        <p:spPr>
          <a:xfrm>
            <a:off x="685800" y="4315968"/>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Room Number</a:t>
            </a:r>
            <a:endParaRPr lang="en-US" sz="1150" dirty="0"/>
          </a:p>
        </p:txBody>
      </p:sp>
      <p:sp>
        <p:nvSpPr>
          <p:cNvPr id="31" name="Text 29"/>
          <p:cNvSpPr/>
          <p:nvPr/>
        </p:nvSpPr>
        <p:spPr>
          <a:xfrm>
            <a:off x="3063240" y="4315968"/>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400</a:t>
            </a:r>
            <a:endParaRPr lang="en-US" sz="1150" dirty="0"/>
          </a:p>
        </p:txBody>
      </p:sp>
      <p:sp>
        <p:nvSpPr>
          <p:cNvPr id="32" name="Text 30"/>
          <p:cNvSpPr/>
          <p:nvPr/>
        </p:nvSpPr>
        <p:spPr>
          <a:xfrm>
            <a:off x="3977640" y="4315968"/>
            <a:ext cx="1874520" cy="384048"/>
          </a:xfrm>
          <a:prstGeom prst="rect">
            <a:avLst/>
          </a:prstGeom>
          <a:noFill/>
          <a:ln/>
        </p:spPr>
        <p:txBody>
          <a:bodyPr wrap="square" rtlCol="0" anchor="ctr"/>
          <a:lstStyle/>
          <a:p>
            <a:pPr marL="0" indent="0" algn="ctr">
              <a:buNone/>
            </a:pPr>
            <a:r>
              <a:rPr lang="en-US" sz="1100" b="1" dirty="0">
                <a:solidFill>
                  <a:srgbClr val="5B6B8C"/>
                </a:solidFill>
                <a:latin typeface="Calibri" pitchFamily="34" charset="0"/>
                <a:ea typeface="Calibri" pitchFamily="34" charset="-122"/>
                <a:cs typeface="Calibri" pitchFamily="34" charset="-120"/>
              </a:rPr>
              <a:t>Fact attribute</a:t>
            </a:r>
            <a:endParaRPr lang="en-US" sz="1100" dirty="0"/>
          </a:p>
        </p:txBody>
      </p:sp>
      <p:sp>
        <p:nvSpPr>
          <p:cNvPr id="33" name="Shape 31"/>
          <p:cNvSpPr/>
          <p:nvPr/>
        </p:nvSpPr>
        <p:spPr>
          <a:xfrm>
            <a:off x="548640" y="4700016"/>
            <a:ext cx="5394960" cy="384048"/>
          </a:xfrm>
          <a:prstGeom prst="rect">
            <a:avLst/>
          </a:prstGeom>
          <a:solidFill>
            <a:srgbClr val="FFFFFF"/>
          </a:solidFill>
          <a:ln/>
        </p:spPr>
      </p:sp>
      <p:sp>
        <p:nvSpPr>
          <p:cNvPr id="34" name="Text 32"/>
          <p:cNvSpPr/>
          <p:nvPr/>
        </p:nvSpPr>
        <p:spPr>
          <a:xfrm>
            <a:off x="685800" y="4700016"/>
            <a:ext cx="2377440" cy="384048"/>
          </a:xfrm>
          <a:prstGeom prst="rect">
            <a:avLst/>
          </a:prstGeom>
          <a:noFill/>
          <a:ln/>
        </p:spPr>
        <p:txBody>
          <a:bodyPr wrap="square" rtlCol="0" anchor="ctr"/>
          <a:lstStyle/>
          <a:p>
            <a:pPr marL="0" indent="0">
              <a:buNone/>
            </a:pPr>
            <a:r>
              <a:rPr lang="en-US" sz="1150" dirty="0">
                <a:solidFill>
                  <a:srgbClr val="1A1D29"/>
                </a:solidFill>
                <a:latin typeface="Calibri" pitchFamily="34" charset="0"/>
                <a:ea typeface="Calibri" pitchFamily="34" charset="-122"/>
                <a:cs typeface="Calibri" pitchFamily="34" charset="-120"/>
              </a:rPr>
              <a:t>Doctor / Hospital / Name</a:t>
            </a:r>
            <a:endParaRPr lang="en-US" sz="1150" dirty="0"/>
          </a:p>
        </p:txBody>
      </p:sp>
      <p:sp>
        <p:nvSpPr>
          <p:cNvPr id="35" name="Text 33"/>
          <p:cNvSpPr/>
          <p:nvPr/>
        </p:nvSpPr>
        <p:spPr>
          <a:xfrm>
            <a:off x="3063240" y="4700016"/>
            <a:ext cx="914400" cy="384048"/>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40k+</a:t>
            </a:r>
            <a:endParaRPr lang="en-US" sz="1150" dirty="0"/>
          </a:p>
        </p:txBody>
      </p:sp>
      <p:sp>
        <p:nvSpPr>
          <p:cNvPr id="36" name="Text 34"/>
          <p:cNvSpPr/>
          <p:nvPr/>
        </p:nvSpPr>
        <p:spPr>
          <a:xfrm>
            <a:off x="3977640" y="4700016"/>
            <a:ext cx="1874520" cy="384048"/>
          </a:xfrm>
          <a:prstGeom prst="rect">
            <a:avLst/>
          </a:prstGeom>
          <a:noFill/>
          <a:ln/>
        </p:spPr>
        <p:txBody>
          <a:bodyPr wrap="square" rtlCol="0" anchor="ctr"/>
          <a:lstStyle/>
          <a:p>
            <a:pPr marL="0" indent="0" algn="ctr">
              <a:buNone/>
            </a:pPr>
            <a:r>
              <a:rPr lang="en-US" sz="1100" b="1" dirty="0">
                <a:solidFill>
                  <a:srgbClr val="5B6B8C"/>
                </a:solidFill>
                <a:latin typeface="Calibri" pitchFamily="34" charset="0"/>
                <a:ea typeface="Calibri" pitchFamily="34" charset="-122"/>
                <a:cs typeface="Calibri" pitchFamily="34" charset="-120"/>
              </a:rPr>
              <a:t>Fact attribute</a:t>
            </a:r>
            <a:endParaRPr lang="en-US" sz="1100" dirty="0"/>
          </a:p>
        </p:txBody>
      </p:sp>
      <p:sp>
        <p:nvSpPr>
          <p:cNvPr id="37" name="Shape 35"/>
          <p:cNvSpPr/>
          <p:nvPr/>
        </p:nvSpPr>
        <p:spPr>
          <a:xfrm>
            <a:off x="6263640" y="1600200"/>
            <a:ext cx="5349240" cy="4343400"/>
          </a:xfrm>
          <a:prstGeom prst="roundRect">
            <a:avLst>
              <a:gd name="adj" fmla="val 2526"/>
            </a:avLst>
          </a:prstGeom>
          <a:solidFill>
            <a:srgbClr val="1E2761"/>
          </a:solidFill>
          <a:ln/>
          <a:effectLst>
            <a:outerShdw blurRad="101600" dist="38100" dir="5400000" algn="bl" rotWithShape="0">
              <a:srgbClr val="0F1230">
                <a:alpha val="25000"/>
              </a:srgbClr>
            </a:outerShdw>
          </a:effectLst>
        </p:spPr>
      </p:sp>
      <p:sp>
        <p:nvSpPr>
          <p:cNvPr id="38" name="Text 36"/>
          <p:cNvSpPr/>
          <p:nvPr/>
        </p:nvSpPr>
        <p:spPr>
          <a:xfrm>
            <a:off x="6583680" y="1874520"/>
            <a:ext cx="4709160" cy="457200"/>
          </a:xfrm>
          <a:prstGeom prst="rect">
            <a:avLst/>
          </a:prstGeom>
          <a:noFill/>
          <a:ln/>
        </p:spPr>
        <p:txBody>
          <a:bodyPr wrap="square" rtlCol="0" anchor="ctr"/>
          <a:lstStyle/>
          <a:p>
            <a:pPr marL="0" indent="0">
              <a:buNone/>
            </a:pPr>
            <a:r>
              <a:rPr lang="en-US" sz="1700" b="1" dirty="0">
                <a:solidFill>
                  <a:srgbClr val="E8A33D"/>
                </a:solidFill>
                <a:latin typeface="Cambria" pitchFamily="34" charset="0"/>
                <a:ea typeface="Cambria" pitchFamily="34" charset="-122"/>
                <a:cs typeface="Cambria" pitchFamily="34" charset="-120"/>
              </a:rPr>
              <a:t>Why "hybrid"?</a:t>
            </a:r>
            <a:endParaRPr lang="en-US" sz="1700" dirty="0"/>
          </a:p>
        </p:txBody>
      </p:sp>
      <p:sp>
        <p:nvSpPr>
          <p:cNvPr id="39" name="Text 37"/>
          <p:cNvSpPr/>
          <p:nvPr/>
        </p:nvSpPr>
        <p:spPr>
          <a:xfrm>
            <a:off x="6583680" y="2377440"/>
            <a:ext cx="4709160" cy="1371600"/>
          </a:xfrm>
          <a:prstGeom prst="rect">
            <a:avLst/>
          </a:prstGeom>
          <a:noFill/>
          <a:ln/>
        </p:spPr>
        <p:txBody>
          <a:bodyPr wrap="square" rtlCol="0" anchor="t"/>
          <a:lstStyle/>
          <a:p>
            <a:pPr marL="0" indent="0">
              <a:buNone/>
            </a:pPr>
            <a:r>
              <a:rPr lang="en-US" sz="1300" dirty="0">
                <a:solidFill>
                  <a:srgbClr val="CADCFC"/>
                </a:solidFill>
                <a:latin typeface="Calibri" pitchFamily="34" charset="0"/>
                <a:ea typeface="Calibri" pitchFamily="34" charset="-122"/>
                <a:cs typeface="Calibri" pitchFamily="34" charset="-120"/>
              </a:rPr>
              <a:t>We normalized the columns where a lookup table clearly helps, and kept the rest directly in the fact table where splitting them out would only add complexity, not benefit.</a:t>
            </a:r>
            <a:endParaRPr lang="en-US" sz="1300" dirty="0"/>
          </a:p>
        </p:txBody>
      </p:sp>
      <p:sp>
        <p:nvSpPr>
          <p:cNvPr id="40" name="Text 38"/>
          <p:cNvSpPr/>
          <p:nvPr/>
        </p:nvSpPr>
        <p:spPr>
          <a:xfrm>
            <a:off x="6583680" y="3886200"/>
            <a:ext cx="4709160" cy="457200"/>
          </a:xfrm>
          <a:prstGeom prst="rect">
            <a:avLst/>
          </a:prstGeom>
          <a:noFill/>
          <a:ln/>
        </p:spPr>
        <p:txBody>
          <a:bodyPr wrap="square" rtlCol="0" anchor="ctr"/>
          <a:lstStyle/>
          <a:p>
            <a:pPr marL="0" indent="0">
              <a:buNone/>
            </a:pPr>
            <a:r>
              <a:rPr lang="en-US" sz="1700" b="1" dirty="0">
                <a:solidFill>
                  <a:srgbClr val="E8A33D"/>
                </a:solidFill>
                <a:latin typeface="Cambria" pitchFamily="34" charset="0"/>
                <a:ea typeface="Cambria" pitchFamily="34" charset="-122"/>
                <a:cs typeface="Cambria" pitchFamily="34" charset="-120"/>
              </a:rPr>
              <a:t>Why not normalize everything?</a:t>
            </a:r>
            <a:endParaRPr lang="en-US" sz="1700" dirty="0"/>
          </a:p>
        </p:txBody>
      </p:sp>
      <p:sp>
        <p:nvSpPr>
          <p:cNvPr id="41" name="Text 39"/>
          <p:cNvSpPr/>
          <p:nvPr/>
        </p:nvSpPr>
        <p:spPr>
          <a:xfrm>
            <a:off x="6583680" y="4389120"/>
            <a:ext cx="4709160" cy="1463040"/>
          </a:xfrm>
          <a:prstGeom prst="rect">
            <a:avLst/>
          </a:prstGeom>
          <a:noFill/>
          <a:ln/>
        </p:spPr>
        <p:txBody>
          <a:bodyPr wrap="square" rtlCol="0" anchor="t"/>
          <a:lstStyle/>
          <a:p>
            <a:pPr marL="0" indent="0">
              <a:buNone/>
            </a:pPr>
            <a:r>
              <a:rPr lang="en-US" sz="1250" dirty="0">
                <a:solidFill>
                  <a:srgbClr val="CADCFC"/>
                </a:solidFill>
                <a:latin typeface="Calibri" pitchFamily="34" charset="0"/>
                <a:ea typeface="Calibri" pitchFamily="34" charset="-122"/>
                <a:cs typeface="Calibri" pitchFamily="34" charset="-120"/>
              </a:rPr>
              <a:t>Doctor, Hospital, and Name are 70–90% unique relative to row count — normalizing near-unique values adds join overhead with no real storage or consistency benefit.</a:t>
            </a:r>
            <a:endParaRPr lang="en-US" sz="1250" dirty="0"/>
          </a:p>
        </p:txBody>
      </p:sp>
      <p:sp>
        <p:nvSpPr>
          <p:cNvPr id="42" name="Text 40"/>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Decision verified against real cardinality counts, not assumed</a:t>
            </a:r>
            <a:endParaRPr lang="en-US" sz="1000" dirty="0"/>
          </a:p>
        </p:txBody>
      </p:sp>
      <p:sp>
        <p:nvSpPr>
          <p:cNvPr id="43" name="Text 41"/>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Group 3 · Healthcare Dataset</a:t>
            </a:r>
            <a:endParaRPr lang="en-US" sz="1000" dirty="0"/>
          </a:p>
        </p:txBody>
      </p:sp>
      <p:sp>
        <p:nvSpPr>
          <p:cNvPr id="44" name="Text 1">
            <a:extLst>
              <a:ext uri="{FF2B5EF4-FFF2-40B4-BE49-F238E27FC236}">
                <a16:creationId xmlns:a16="http://schemas.microsoft.com/office/drawing/2014/main" id="{71D77378-9BFC-69B7-C1BF-990B8BD3B833}"/>
              </a:ext>
            </a:extLst>
          </p:cNvPr>
          <p:cNvSpPr/>
          <p:nvPr/>
        </p:nvSpPr>
        <p:spPr>
          <a:xfrm>
            <a:off x="502920" y="5468112"/>
            <a:ext cx="5593080" cy="365760"/>
          </a:xfrm>
          <a:prstGeom prst="rect">
            <a:avLst/>
          </a:prstGeom>
          <a:noFill/>
          <a:ln/>
        </p:spPr>
        <p:txBody>
          <a:bodyPr wrap="square" rtlCol="0" anchor="ctr"/>
          <a:lstStyle/>
          <a:p>
            <a:pPr marL="0" indent="0">
              <a:lnSpc>
                <a:spcPct val="150000"/>
              </a:lnSpc>
              <a:buNone/>
            </a:pPr>
            <a:r>
              <a:rPr lang="en-US" sz="1400" dirty="0">
                <a:solidFill>
                  <a:srgbClr val="6B7280"/>
                </a:solidFill>
                <a:latin typeface="Calibri" pitchFamily="34" charset="0"/>
                <a:ea typeface="Calibri" pitchFamily="34" charset="-122"/>
                <a:cs typeface="Calibri" pitchFamily="34" charset="-120"/>
              </a:rPr>
              <a:t>Star Schema would generally be more disciplined about separating dimensional attributes into dimensions.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Lab 2 — Schema at a Glance</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One fact table at the admission grain, six lookup tables feeding it.</a:t>
            </a:r>
            <a:endParaRPr lang="en-US" sz="1400" dirty="0"/>
          </a:p>
        </p:txBody>
      </p:sp>
      <p:sp>
        <p:nvSpPr>
          <p:cNvPr id="4" name="Shape 2"/>
          <p:cNvSpPr/>
          <p:nvPr/>
        </p:nvSpPr>
        <p:spPr>
          <a:xfrm>
            <a:off x="4480560" y="3063240"/>
            <a:ext cx="3200400" cy="1371600"/>
          </a:xfrm>
          <a:prstGeom prst="roundRect">
            <a:avLst>
              <a:gd name="adj" fmla="val 6667"/>
            </a:avLst>
          </a:prstGeom>
          <a:solidFill>
            <a:srgbClr val="1E2761"/>
          </a:solidFill>
          <a:ln/>
          <a:effectLst>
            <a:outerShdw blurRad="101600" dist="38100" dir="5400000" algn="bl" rotWithShape="0">
              <a:srgbClr val="0F1230">
                <a:alpha val="25000"/>
              </a:srgbClr>
            </a:outerShdw>
          </a:effectLst>
        </p:spPr>
      </p:sp>
      <p:sp>
        <p:nvSpPr>
          <p:cNvPr id="5" name="Text 3"/>
          <p:cNvSpPr/>
          <p:nvPr/>
        </p:nvSpPr>
        <p:spPr>
          <a:xfrm>
            <a:off x="4480560" y="3246120"/>
            <a:ext cx="320040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fact_admissions</a:t>
            </a:r>
            <a:endParaRPr lang="en-US" sz="1600" dirty="0"/>
          </a:p>
        </p:txBody>
      </p:sp>
      <p:sp>
        <p:nvSpPr>
          <p:cNvPr id="6" name="Text 4"/>
          <p:cNvSpPr/>
          <p:nvPr/>
        </p:nvSpPr>
        <p:spPr>
          <a:xfrm>
            <a:off x="4663440" y="3657600"/>
            <a:ext cx="2834640" cy="68580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55,500 rows · billing, dates, name,</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doctor, hospital, room, age</a:t>
            </a:r>
            <a:endParaRPr lang="en-US" sz="1050" dirty="0"/>
          </a:p>
        </p:txBody>
      </p:sp>
      <p:sp>
        <p:nvSpPr>
          <p:cNvPr id="7" name="Shape 5"/>
          <p:cNvSpPr/>
          <p:nvPr/>
        </p:nvSpPr>
        <p:spPr>
          <a:xfrm>
            <a:off x="457200" y="2011680"/>
            <a:ext cx="2651760" cy="685800"/>
          </a:xfrm>
          <a:prstGeom prst="roundRect">
            <a:avLst>
              <a:gd name="adj" fmla="val 10667"/>
            </a:avLst>
          </a:prstGeom>
          <a:solidFill>
            <a:srgbClr val="F4F6FB"/>
          </a:solidFill>
          <a:ln w="12700">
            <a:solidFill>
              <a:srgbClr val="5B6B8C"/>
            </a:solidFill>
            <a:prstDash val="solid"/>
          </a:ln>
        </p:spPr>
      </p:sp>
      <p:sp>
        <p:nvSpPr>
          <p:cNvPr id="8" name="Text 6"/>
          <p:cNvSpPr/>
          <p:nvPr/>
        </p:nvSpPr>
        <p:spPr>
          <a:xfrm>
            <a:off x="457200" y="201168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dim_gender</a:t>
            </a:r>
            <a:endParaRPr lang="en-US" sz="1250" dirty="0"/>
          </a:p>
        </p:txBody>
      </p:sp>
      <p:sp>
        <p:nvSpPr>
          <p:cNvPr id="9" name="Shape 7"/>
          <p:cNvSpPr/>
          <p:nvPr/>
        </p:nvSpPr>
        <p:spPr>
          <a:xfrm>
            <a:off x="1783080" y="2354580"/>
            <a:ext cx="4297680" cy="1394460"/>
          </a:xfrm>
          <a:prstGeom prst="line">
            <a:avLst/>
          </a:prstGeom>
          <a:noFill/>
          <a:ln w="19050">
            <a:solidFill>
              <a:srgbClr val="E8A33D"/>
            </a:solidFill>
            <a:prstDash val="solid"/>
          </a:ln>
        </p:spPr>
      </p:sp>
      <p:sp>
        <p:nvSpPr>
          <p:cNvPr id="10" name="Shape 8"/>
          <p:cNvSpPr/>
          <p:nvPr/>
        </p:nvSpPr>
        <p:spPr>
          <a:xfrm>
            <a:off x="457200" y="4251960"/>
            <a:ext cx="2651760" cy="685800"/>
          </a:xfrm>
          <a:prstGeom prst="roundRect">
            <a:avLst>
              <a:gd name="adj" fmla="val 10667"/>
            </a:avLst>
          </a:prstGeom>
          <a:solidFill>
            <a:srgbClr val="F4F6FB"/>
          </a:solidFill>
          <a:ln w="12700">
            <a:solidFill>
              <a:srgbClr val="5B6B8C"/>
            </a:solidFill>
            <a:prstDash val="solid"/>
          </a:ln>
        </p:spPr>
      </p:sp>
      <p:sp>
        <p:nvSpPr>
          <p:cNvPr id="11" name="Text 9"/>
          <p:cNvSpPr/>
          <p:nvPr/>
        </p:nvSpPr>
        <p:spPr>
          <a:xfrm>
            <a:off x="457200" y="425196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dim_blood_type</a:t>
            </a:r>
            <a:endParaRPr lang="en-US" sz="1250" dirty="0"/>
          </a:p>
        </p:txBody>
      </p:sp>
      <p:sp>
        <p:nvSpPr>
          <p:cNvPr id="12" name="Shape 10"/>
          <p:cNvSpPr/>
          <p:nvPr/>
        </p:nvSpPr>
        <p:spPr>
          <a:xfrm flipV="1">
            <a:off x="3063240" y="4114800"/>
            <a:ext cx="1417321" cy="480060"/>
          </a:xfrm>
          <a:prstGeom prst="line">
            <a:avLst/>
          </a:prstGeom>
          <a:noFill/>
          <a:ln w="19050">
            <a:solidFill>
              <a:srgbClr val="E8A33D"/>
            </a:solidFill>
            <a:prstDash val="solid"/>
          </a:ln>
        </p:spPr>
      </p:sp>
      <p:sp>
        <p:nvSpPr>
          <p:cNvPr id="13" name="Shape 11"/>
          <p:cNvSpPr/>
          <p:nvPr/>
        </p:nvSpPr>
        <p:spPr>
          <a:xfrm>
            <a:off x="9052560" y="2011680"/>
            <a:ext cx="2651760" cy="685800"/>
          </a:xfrm>
          <a:prstGeom prst="roundRect">
            <a:avLst>
              <a:gd name="adj" fmla="val 10667"/>
            </a:avLst>
          </a:prstGeom>
          <a:solidFill>
            <a:srgbClr val="F4F6FB"/>
          </a:solidFill>
          <a:ln w="12700">
            <a:solidFill>
              <a:srgbClr val="5B6B8C"/>
            </a:solidFill>
            <a:prstDash val="solid"/>
          </a:ln>
        </p:spPr>
      </p:sp>
      <p:sp>
        <p:nvSpPr>
          <p:cNvPr id="14" name="Text 12"/>
          <p:cNvSpPr/>
          <p:nvPr/>
        </p:nvSpPr>
        <p:spPr>
          <a:xfrm>
            <a:off x="9052560" y="201168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dim_medical_condition</a:t>
            </a:r>
            <a:endParaRPr lang="en-US" sz="1250" dirty="0"/>
          </a:p>
        </p:txBody>
      </p:sp>
      <p:sp>
        <p:nvSpPr>
          <p:cNvPr id="15" name="Shape 13"/>
          <p:cNvSpPr/>
          <p:nvPr/>
        </p:nvSpPr>
        <p:spPr>
          <a:xfrm flipV="1">
            <a:off x="7680960" y="2446020"/>
            <a:ext cx="1371600" cy="937260"/>
          </a:xfrm>
          <a:prstGeom prst="line">
            <a:avLst/>
          </a:prstGeom>
          <a:noFill/>
          <a:ln w="19050">
            <a:solidFill>
              <a:srgbClr val="E8A33D"/>
            </a:solidFill>
            <a:prstDash val="solid"/>
          </a:ln>
        </p:spPr>
      </p:sp>
      <p:sp>
        <p:nvSpPr>
          <p:cNvPr id="16" name="Shape 14"/>
          <p:cNvSpPr/>
          <p:nvPr/>
        </p:nvSpPr>
        <p:spPr>
          <a:xfrm>
            <a:off x="9052560" y="4251960"/>
            <a:ext cx="2651760" cy="685800"/>
          </a:xfrm>
          <a:prstGeom prst="roundRect">
            <a:avLst>
              <a:gd name="adj" fmla="val 10667"/>
            </a:avLst>
          </a:prstGeom>
          <a:solidFill>
            <a:srgbClr val="F4F6FB"/>
          </a:solidFill>
          <a:ln w="12700">
            <a:solidFill>
              <a:srgbClr val="5B6B8C"/>
            </a:solidFill>
            <a:prstDash val="solid"/>
          </a:ln>
        </p:spPr>
      </p:sp>
      <p:sp>
        <p:nvSpPr>
          <p:cNvPr id="17" name="Text 15"/>
          <p:cNvSpPr/>
          <p:nvPr/>
        </p:nvSpPr>
        <p:spPr>
          <a:xfrm>
            <a:off x="9052560" y="425196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dim_insurance_provider</a:t>
            </a:r>
            <a:endParaRPr lang="en-US" sz="1250" dirty="0"/>
          </a:p>
        </p:txBody>
      </p:sp>
      <p:sp>
        <p:nvSpPr>
          <p:cNvPr id="18" name="Shape 16"/>
          <p:cNvSpPr/>
          <p:nvPr/>
        </p:nvSpPr>
        <p:spPr>
          <a:xfrm>
            <a:off x="6080760" y="3749040"/>
            <a:ext cx="4297680" cy="845820"/>
          </a:xfrm>
          <a:prstGeom prst="line">
            <a:avLst/>
          </a:prstGeom>
          <a:noFill/>
          <a:ln w="19050">
            <a:solidFill>
              <a:srgbClr val="E8A33D"/>
            </a:solidFill>
            <a:prstDash val="solid"/>
          </a:ln>
        </p:spPr>
      </p:sp>
      <p:sp>
        <p:nvSpPr>
          <p:cNvPr id="19" name="Shape 17"/>
          <p:cNvSpPr/>
          <p:nvPr/>
        </p:nvSpPr>
        <p:spPr>
          <a:xfrm>
            <a:off x="4709160" y="1417320"/>
            <a:ext cx="2651760" cy="685800"/>
          </a:xfrm>
          <a:prstGeom prst="roundRect">
            <a:avLst>
              <a:gd name="adj" fmla="val 10667"/>
            </a:avLst>
          </a:prstGeom>
          <a:solidFill>
            <a:srgbClr val="F4F6FB"/>
          </a:solidFill>
          <a:ln w="12700">
            <a:solidFill>
              <a:srgbClr val="5B6B8C"/>
            </a:solidFill>
            <a:prstDash val="solid"/>
          </a:ln>
        </p:spPr>
      </p:sp>
      <p:sp>
        <p:nvSpPr>
          <p:cNvPr id="20" name="Text 18"/>
          <p:cNvSpPr/>
          <p:nvPr/>
        </p:nvSpPr>
        <p:spPr>
          <a:xfrm>
            <a:off x="4709160" y="141732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dim_admission_type</a:t>
            </a:r>
            <a:endParaRPr lang="en-US" sz="1250" dirty="0"/>
          </a:p>
        </p:txBody>
      </p:sp>
      <p:sp>
        <p:nvSpPr>
          <p:cNvPr id="21" name="Shape 19"/>
          <p:cNvSpPr/>
          <p:nvPr/>
        </p:nvSpPr>
        <p:spPr>
          <a:xfrm>
            <a:off x="6035040" y="1760220"/>
            <a:ext cx="45720" cy="1988820"/>
          </a:xfrm>
          <a:prstGeom prst="line">
            <a:avLst/>
          </a:prstGeom>
          <a:noFill/>
          <a:ln w="19050">
            <a:solidFill>
              <a:srgbClr val="E8A33D"/>
            </a:solidFill>
            <a:prstDash val="solid"/>
          </a:ln>
        </p:spPr>
      </p:sp>
      <p:sp>
        <p:nvSpPr>
          <p:cNvPr id="22" name="Shape 20"/>
          <p:cNvSpPr/>
          <p:nvPr/>
        </p:nvSpPr>
        <p:spPr>
          <a:xfrm>
            <a:off x="4709160" y="5349240"/>
            <a:ext cx="2651760" cy="685800"/>
          </a:xfrm>
          <a:prstGeom prst="roundRect">
            <a:avLst>
              <a:gd name="adj" fmla="val 10667"/>
            </a:avLst>
          </a:prstGeom>
          <a:solidFill>
            <a:srgbClr val="F4F6FB"/>
          </a:solidFill>
          <a:ln w="12700">
            <a:solidFill>
              <a:srgbClr val="5B6B8C"/>
            </a:solidFill>
            <a:prstDash val="solid"/>
          </a:ln>
        </p:spPr>
      </p:sp>
      <p:sp>
        <p:nvSpPr>
          <p:cNvPr id="23" name="Text 21"/>
          <p:cNvSpPr/>
          <p:nvPr/>
        </p:nvSpPr>
        <p:spPr>
          <a:xfrm>
            <a:off x="4709160" y="534924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dim_test_results</a:t>
            </a:r>
            <a:endParaRPr lang="en-US" sz="1250" dirty="0"/>
          </a:p>
        </p:txBody>
      </p:sp>
      <p:sp>
        <p:nvSpPr>
          <p:cNvPr id="24" name="Shape 22"/>
          <p:cNvSpPr/>
          <p:nvPr/>
        </p:nvSpPr>
        <p:spPr>
          <a:xfrm>
            <a:off x="6035040" y="3749040"/>
            <a:ext cx="45720" cy="1943100"/>
          </a:xfrm>
          <a:prstGeom prst="line">
            <a:avLst/>
          </a:prstGeom>
          <a:noFill/>
          <a:ln w="19050">
            <a:solidFill>
              <a:srgbClr val="E8A33D"/>
            </a:solidFill>
            <a:prstDash val="solid"/>
          </a:ln>
        </p:spPr>
      </p:sp>
      <p:sp>
        <p:nvSpPr>
          <p:cNvPr id="25" name="Shape 23"/>
          <p:cNvSpPr/>
          <p:nvPr/>
        </p:nvSpPr>
        <p:spPr>
          <a:xfrm>
            <a:off x="4480560" y="3063240"/>
            <a:ext cx="3200400" cy="1371600"/>
          </a:xfrm>
          <a:prstGeom prst="roundRect">
            <a:avLst>
              <a:gd name="adj" fmla="val 6667"/>
            </a:avLst>
          </a:prstGeom>
          <a:solidFill>
            <a:srgbClr val="1E2761"/>
          </a:solidFill>
          <a:ln/>
          <a:effectLst>
            <a:outerShdw blurRad="101600" dist="38100" dir="5400000" algn="bl" rotWithShape="0">
              <a:srgbClr val="0F1230">
                <a:alpha val="25000"/>
              </a:srgbClr>
            </a:outerShdw>
          </a:effectLst>
        </p:spPr>
      </p:sp>
      <p:sp>
        <p:nvSpPr>
          <p:cNvPr id="26" name="Text 24"/>
          <p:cNvSpPr/>
          <p:nvPr/>
        </p:nvSpPr>
        <p:spPr>
          <a:xfrm>
            <a:off x="4480560" y="3246120"/>
            <a:ext cx="3200400" cy="3657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fact_admissions</a:t>
            </a:r>
            <a:endParaRPr lang="en-US" sz="1600" dirty="0"/>
          </a:p>
        </p:txBody>
      </p:sp>
      <p:sp>
        <p:nvSpPr>
          <p:cNvPr id="27" name="Text 25"/>
          <p:cNvSpPr/>
          <p:nvPr/>
        </p:nvSpPr>
        <p:spPr>
          <a:xfrm>
            <a:off x="4663440" y="3657600"/>
            <a:ext cx="2834640" cy="68580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55,500 rows · billing, dates, name,</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doctor, hospital, room, age</a:t>
            </a:r>
            <a:endParaRPr lang="en-US" sz="1050" dirty="0"/>
          </a:p>
        </p:txBody>
      </p:sp>
      <p:sp>
        <p:nvSpPr>
          <p:cNvPr id="28" name="Shape 26"/>
          <p:cNvSpPr/>
          <p:nvPr/>
        </p:nvSpPr>
        <p:spPr>
          <a:xfrm>
            <a:off x="457200" y="2011680"/>
            <a:ext cx="2651760" cy="685800"/>
          </a:xfrm>
          <a:prstGeom prst="roundRect">
            <a:avLst>
              <a:gd name="adj" fmla="val 10667"/>
            </a:avLst>
          </a:prstGeom>
          <a:solidFill>
            <a:srgbClr val="F4F6FB"/>
          </a:solidFill>
          <a:ln w="12700">
            <a:solidFill>
              <a:srgbClr val="5B6B8C"/>
            </a:solidFill>
            <a:prstDash val="solid"/>
          </a:ln>
        </p:spPr>
      </p:sp>
      <p:sp>
        <p:nvSpPr>
          <p:cNvPr id="29" name="Text 27"/>
          <p:cNvSpPr/>
          <p:nvPr/>
        </p:nvSpPr>
        <p:spPr>
          <a:xfrm>
            <a:off x="457200" y="201168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dim_gender</a:t>
            </a:r>
            <a:endParaRPr lang="en-US" sz="1250" dirty="0"/>
          </a:p>
        </p:txBody>
      </p:sp>
      <p:sp>
        <p:nvSpPr>
          <p:cNvPr id="30" name="Shape 28"/>
          <p:cNvSpPr/>
          <p:nvPr/>
        </p:nvSpPr>
        <p:spPr>
          <a:xfrm>
            <a:off x="457200" y="4251960"/>
            <a:ext cx="2651760" cy="685800"/>
          </a:xfrm>
          <a:prstGeom prst="roundRect">
            <a:avLst>
              <a:gd name="adj" fmla="val 10667"/>
            </a:avLst>
          </a:prstGeom>
          <a:solidFill>
            <a:srgbClr val="F4F6FB"/>
          </a:solidFill>
          <a:ln w="12700">
            <a:solidFill>
              <a:srgbClr val="5B6B8C"/>
            </a:solidFill>
            <a:prstDash val="solid"/>
          </a:ln>
        </p:spPr>
      </p:sp>
      <p:sp>
        <p:nvSpPr>
          <p:cNvPr id="31" name="Text 29"/>
          <p:cNvSpPr/>
          <p:nvPr/>
        </p:nvSpPr>
        <p:spPr>
          <a:xfrm>
            <a:off x="457200" y="425196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dim_blood_type</a:t>
            </a:r>
            <a:endParaRPr lang="en-US" sz="1250" dirty="0"/>
          </a:p>
        </p:txBody>
      </p:sp>
      <p:sp>
        <p:nvSpPr>
          <p:cNvPr id="32" name="Shape 30"/>
          <p:cNvSpPr/>
          <p:nvPr/>
        </p:nvSpPr>
        <p:spPr>
          <a:xfrm>
            <a:off x="9052560" y="2011680"/>
            <a:ext cx="2651760" cy="685800"/>
          </a:xfrm>
          <a:prstGeom prst="roundRect">
            <a:avLst>
              <a:gd name="adj" fmla="val 10667"/>
            </a:avLst>
          </a:prstGeom>
          <a:solidFill>
            <a:srgbClr val="F4F6FB"/>
          </a:solidFill>
          <a:ln w="12700">
            <a:solidFill>
              <a:srgbClr val="5B6B8C"/>
            </a:solidFill>
            <a:prstDash val="solid"/>
          </a:ln>
        </p:spPr>
      </p:sp>
      <p:sp>
        <p:nvSpPr>
          <p:cNvPr id="33" name="Text 31"/>
          <p:cNvSpPr/>
          <p:nvPr/>
        </p:nvSpPr>
        <p:spPr>
          <a:xfrm>
            <a:off x="9052560" y="201168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dim_medical_condition</a:t>
            </a:r>
            <a:endParaRPr lang="en-US" sz="1250" dirty="0"/>
          </a:p>
        </p:txBody>
      </p:sp>
      <p:sp>
        <p:nvSpPr>
          <p:cNvPr id="34" name="Shape 32"/>
          <p:cNvSpPr/>
          <p:nvPr/>
        </p:nvSpPr>
        <p:spPr>
          <a:xfrm>
            <a:off x="9052560" y="4251960"/>
            <a:ext cx="2651760" cy="685800"/>
          </a:xfrm>
          <a:prstGeom prst="roundRect">
            <a:avLst>
              <a:gd name="adj" fmla="val 10667"/>
            </a:avLst>
          </a:prstGeom>
          <a:solidFill>
            <a:srgbClr val="F4F6FB"/>
          </a:solidFill>
          <a:ln w="12700">
            <a:solidFill>
              <a:srgbClr val="5B6B8C"/>
            </a:solidFill>
            <a:prstDash val="solid"/>
          </a:ln>
        </p:spPr>
      </p:sp>
      <p:sp>
        <p:nvSpPr>
          <p:cNvPr id="35" name="Text 33"/>
          <p:cNvSpPr/>
          <p:nvPr/>
        </p:nvSpPr>
        <p:spPr>
          <a:xfrm>
            <a:off x="9052560" y="425196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dim_insurance_provider</a:t>
            </a:r>
            <a:endParaRPr lang="en-US" sz="1250" dirty="0"/>
          </a:p>
        </p:txBody>
      </p:sp>
      <p:sp>
        <p:nvSpPr>
          <p:cNvPr id="36" name="Shape 34"/>
          <p:cNvSpPr/>
          <p:nvPr/>
        </p:nvSpPr>
        <p:spPr>
          <a:xfrm>
            <a:off x="4709160" y="1417320"/>
            <a:ext cx="2651760" cy="685800"/>
          </a:xfrm>
          <a:prstGeom prst="roundRect">
            <a:avLst>
              <a:gd name="adj" fmla="val 10667"/>
            </a:avLst>
          </a:prstGeom>
          <a:solidFill>
            <a:srgbClr val="F4F6FB"/>
          </a:solidFill>
          <a:ln w="12700">
            <a:solidFill>
              <a:srgbClr val="5B6B8C"/>
            </a:solidFill>
            <a:prstDash val="solid"/>
          </a:ln>
        </p:spPr>
      </p:sp>
      <p:sp>
        <p:nvSpPr>
          <p:cNvPr id="37" name="Text 35"/>
          <p:cNvSpPr/>
          <p:nvPr/>
        </p:nvSpPr>
        <p:spPr>
          <a:xfrm>
            <a:off x="4709160" y="141732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dim_admission_type</a:t>
            </a:r>
            <a:endParaRPr lang="en-US" sz="1250" dirty="0"/>
          </a:p>
        </p:txBody>
      </p:sp>
      <p:sp>
        <p:nvSpPr>
          <p:cNvPr id="38" name="Shape 36"/>
          <p:cNvSpPr/>
          <p:nvPr/>
        </p:nvSpPr>
        <p:spPr>
          <a:xfrm>
            <a:off x="4709160" y="5349240"/>
            <a:ext cx="2651760" cy="685800"/>
          </a:xfrm>
          <a:prstGeom prst="roundRect">
            <a:avLst>
              <a:gd name="adj" fmla="val 10667"/>
            </a:avLst>
          </a:prstGeom>
          <a:solidFill>
            <a:srgbClr val="F4F6FB"/>
          </a:solidFill>
          <a:ln w="12700">
            <a:solidFill>
              <a:srgbClr val="5B6B8C"/>
            </a:solidFill>
            <a:prstDash val="solid"/>
          </a:ln>
        </p:spPr>
      </p:sp>
      <p:sp>
        <p:nvSpPr>
          <p:cNvPr id="39" name="Text 37"/>
          <p:cNvSpPr/>
          <p:nvPr/>
        </p:nvSpPr>
        <p:spPr>
          <a:xfrm>
            <a:off x="4709160" y="5349240"/>
            <a:ext cx="2651760" cy="685800"/>
          </a:xfrm>
          <a:prstGeom prst="rect">
            <a:avLst/>
          </a:prstGeom>
          <a:noFill/>
          <a:ln/>
        </p:spPr>
        <p:txBody>
          <a:bodyPr wrap="square" rtlCol="0" anchor="ctr"/>
          <a:lstStyle/>
          <a:p>
            <a:pPr marL="0" indent="0" algn="ctr">
              <a:buNone/>
            </a:pPr>
            <a:r>
              <a:rPr lang="en-US" sz="1250" b="1" dirty="0">
                <a:solidFill>
                  <a:srgbClr val="1A1D29"/>
                </a:solidFill>
                <a:latin typeface="Calibri" pitchFamily="34" charset="0"/>
                <a:ea typeface="Calibri" pitchFamily="34" charset="-122"/>
                <a:cs typeface="Calibri" pitchFamily="34" charset="-120"/>
              </a:rPr>
              <a:t>dim_test_results</a:t>
            </a:r>
            <a:endParaRPr lang="en-US" sz="1250" dirty="0"/>
          </a:p>
        </p:txBody>
      </p:sp>
      <p:sp>
        <p:nvSpPr>
          <p:cNvPr id="40" name="Text 38"/>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All FK joins preserved row count: 55,500 in → 55,500 out</a:t>
            </a:r>
            <a:endParaRPr lang="en-US" sz="1000" dirty="0"/>
          </a:p>
        </p:txBody>
      </p:sp>
      <p:sp>
        <p:nvSpPr>
          <p:cNvPr id="41" name="Text 39"/>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Lab 2 — Proving the Schema Works</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We ran a real query across the fact and dimension tables to confirm everything connects correctly.</a:t>
            </a:r>
            <a:endParaRPr lang="en-US" sz="1400" dirty="0"/>
          </a:p>
        </p:txBody>
      </p:sp>
      <p:sp>
        <p:nvSpPr>
          <p:cNvPr id="4" name="Shape 2"/>
          <p:cNvSpPr/>
          <p:nvPr/>
        </p:nvSpPr>
        <p:spPr>
          <a:xfrm>
            <a:off x="548640" y="1600200"/>
            <a:ext cx="5760720" cy="4297680"/>
          </a:xfrm>
          <a:prstGeom prst="roundRect">
            <a:avLst>
              <a:gd name="adj" fmla="val 2128"/>
            </a:avLst>
          </a:prstGeom>
          <a:solidFill>
            <a:srgbClr val="141B4D"/>
          </a:solidFill>
          <a:ln/>
        </p:spPr>
      </p:sp>
      <p:sp>
        <p:nvSpPr>
          <p:cNvPr id="5" name="Text 3"/>
          <p:cNvSpPr/>
          <p:nvPr/>
        </p:nvSpPr>
        <p:spPr>
          <a:xfrm>
            <a:off x="822960" y="1828800"/>
            <a:ext cx="5212080" cy="3840480"/>
          </a:xfrm>
          <a:prstGeom prst="rect">
            <a:avLst/>
          </a:prstGeom>
          <a:noFill/>
          <a:ln/>
        </p:spPr>
        <p:txBody>
          <a:bodyPr wrap="square" rtlCol="0" anchor="t"/>
          <a:lstStyle/>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SELECT mc.condition_name, ip.provider_name,</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       COUNT(*) AS admission_count,</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       ROUND(AVG(f.billing_amount),2) AS avg_billing</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FROM fact_admissions f</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JOIN dim_medical_condition mc</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  ON f.condition_id = mc.condition_id</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JOIN dim_insurance_provider ip</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  ON f.insurance_id = ip.insurance_id</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GROUP BY mc.condition_name, ip.provider_name</a:t>
            </a:r>
            <a:endParaRPr lang="en-US" sz="1200" dirty="0"/>
          </a:p>
          <a:p>
            <a:pPr marL="0" indent="0">
              <a:lnSpc>
                <a:spcPct val="115000"/>
              </a:lnSpc>
              <a:buNone/>
            </a:pPr>
            <a:r>
              <a:rPr lang="en-US" sz="1200" dirty="0">
                <a:solidFill>
                  <a:srgbClr val="8FE3C7"/>
                </a:solidFill>
                <a:latin typeface="Courier New" pitchFamily="34" charset="0"/>
                <a:ea typeface="Courier New" pitchFamily="34" charset="-122"/>
                <a:cs typeface="Courier New" pitchFamily="34" charset="-120"/>
              </a:rPr>
              <a:t>ORDER BY mc.condition_name, avg_billing DESC;</a:t>
            </a:r>
            <a:endParaRPr lang="en-US" sz="1200" dirty="0"/>
          </a:p>
        </p:txBody>
      </p:sp>
      <p:sp>
        <p:nvSpPr>
          <p:cNvPr id="6" name="Text 4"/>
          <p:cNvSpPr/>
          <p:nvPr/>
        </p:nvSpPr>
        <p:spPr>
          <a:xfrm>
            <a:off x="6583680" y="1600200"/>
            <a:ext cx="5029200" cy="365760"/>
          </a:xfrm>
          <a:prstGeom prst="rect">
            <a:avLst/>
          </a:prstGeom>
          <a:noFill/>
          <a:ln/>
        </p:spPr>
        <p:txBody>
          <a:bodyPr wrap="square" rtlCol="0" anchor="ctr"/>
          <a:lstStyle/>
          <a:p>
            <a:pPr marL="0" indent="0">
              <a:buNone/>
            </a:pPr>
            <a:r>
              <a:rPr lang="en-US" sz="1600" b="1" dirty="0">
                <a:solidFill>
                  <a:srgbClr val="1A1D29"/>
                </a:solidFill>
                <a:latin typeface="Cambria" pitchFamily="34" charset="0"/>
                <a:ea typeface="Cambria" pitchFamily="34" charset="-122"/>
                <a:cs typeface="Cambria" pitchFamily="34" charset="-120"/>
              </a:rPr>
              <a:t>What this query does</a:t>
            </a:r>
            <a:endParaRPr lang="en-US" sz="1600" dirty="0"/>
          </a:p>
        </p:txBody>
      </p:sp>
      <p:sp>
        <p:nvSpPr>
          <p:cNvPr id="7" name="Shape 5"/>
          <p:cNvSpPr/>
          <p:nvPr/>
        </p:nvSpPr>
        <p:spPr>
          <a:xfrm>
            <a:off x="6583680" y="2057400"/>
            <a:ext cx="5029200" cy="1920240"/>
          </a:xfrm>
          <a:prstGeom prst="roundRect">
            <a:avLst>
              <a:gd name="adj" fmla="val 4762"/>
            </a:avLst>
          </a:prstGeom>
          <a:solidFill>
            <a:srgbClr val="F4F6FB"/>
          </a:solidFill>
          <a:ln/>
          <a:effectLst>
            <a:outerShdw blurRad="101600" dist="38100" dir="5400000" algn="bl" rotWithShape="0">
              <a:srgbClr val="0F1230">
                <a:alpha val="25000"/>
              </a:srgbClr>
            </a:outerShdw>
          </a:effectLst>
        </p:spPr>
      </p:sp>
      <p:sp>
        <p:nvSpPr>
          <p:cNvPr id="8" name="Text 6"/>
          <p:cNvSpPr/>
          <p:nvPr/>
        </p:nvSpPr>
        <p:spPr>
          <a:xfrm>
            <a:off x="6858000" y="2286000"/>
            <a:ext cx="4480560" cy="1463040"/>
          </a:xfrm>
          <a:prstGeom prst="rect">
            <a:avLst/>
          </a:prstGeom>
          <a:noFill/>
          <a:ln/>
        </p:spPr>
        <p:txBody>
          <a:bodyPr wrap="square" rtlCol="0" anchor="t"/>
          <a:lstStyle/>
          <a:p>
            <a:pPr marL="0" indent="0">
              <a:buNone/>
            </a:pPr>
            <a:r>
              <a:rPr lang="en-US" sz="1300" dirty="0">
                <a:solidFill>
                  <a:srgbClr val="6B7280"/>
                </a:solidFill>
                <a:latin typeface="Calibri" pitchFamily="34" charset="0"/>
                <a:ea typeface="Calibri" pitchFamily="34" charset="-122"/>
                <a:cs typeface="Calibri" pitchFamily="34" charset="-120"/>
              </a:rPr>
              <a:t>It joins our fact table to two of our dimension tables using the foreign keys we built, then groups every admission by condition and insurance provider to calculate an average bill for each combination.</a:t>
            </a:r>
            <a:endParaRPr lang="en-US" sz="1300" dirty="0"/>
          </a:p>
        </p:txBody>
      </p:sp>
      <p:sp>
        <p:nvSpPr>
          <p:cNvPr id="9" name="Shape 7"/>
          <p:cNvSpPr/>
          <p:nvPr/>
        </p:nvSpPr>
        <p:spPr>
          <a:xfrm>
            <a:off x="6583680" y="4160520"/>
            <a:ext cx="5029200" cy="1737360"/>
          </a:xfrm>
          <a:prstGeom prst="roundRect">
            <a:avLst>
              <a:gd name="adj" fmla="val 5263"/>
            </a:avLst>
          </a:prstGeom>
          <a:solidFill>
            <a:srgbClr val="1E2761"/>
          </a:solidFill>
          <a:ln/>
          <a:effectLst>
            <a:outerShdw blurRad="101600" dist="38100" dir="5400000" algn="bl" rotWithShape="0">
              <a:srgbClr val="0F1230">
                <a:alpha val="25000"/>
              </a:srgbClr>
            </a:outerShdw>
          </a:effectLst>
        </p:spPr>
      </p:sp>
      <p:sp>
        <p:nvSpPr>
          <p:cNvPr id="10" name="Text 8"/>
          <p:cNvSpPr/>
          <p:nvPr/>
        </p:nvSpPr>
        <p:spPr>
          <a:xfrm>
            <a:off x="6858000" y="4343400"/>
            <a:ext cx="4480560" cy="54864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30 rows returned</a:t>
            </a:r>
            <a:endParaRPr lang="en-US" sz="2400" dirty="0"/>
          </a:p>
        </p:txBody>
      </p:sp>
      <p:sp>
        <p:nvSpPr>
          <p:cNvPr id="11" name="Text 9"/>
          <p:cNvSpPr/>
          <p:nvPr/>
        </p:nvSpPr>
        <p:spPr>
          <a:xfrm>
            <a:off x="6858000" y="4892040"/>
            <a:ext cx="4480560" cy="914400"/>
          </a:xfrm>
          <a:prstGeom prst="rect">
            <a:avLst/>
          </a:prstGeom>
          <a:noFill/>
          <a:ln/>
        </p:spPr>
        <p:txBody>
          <a:bodyPr wrap="square" rtlCol="0" anchor="t"/>
          <a:lstStyle/>
          <a:p>
            <a:pPr marL="0" indent="0">
              <a:buNone/>
            </a:pPr>
            <a:r>
              <a:rPr lang="en-US" sz="1250" dirty="0">
                <a:solidFill>
                  <a:srgbClr val="CADCFC"/>
                </a:solidFill>
                <a:latin typeface="Calibri" pitchFamily="34" charset="0"/>
                <a:ea typeface="Calibri" pitchFamily="34" charset="-122"/>
                <a:cs typeface="Calibri" pitchFamily="34" charset="-120"/>
              </a:rPr>
              <a:t>6 conditions × 5 insurance providers, every join resolving cleanly. A correct, complete result confirms the schema — tables, keys, and joins — works exactly as designed.</a:t>
            </a:r>
            <a:endParaRPr lang="en-US" sz="1250" dirty="0"/>
          </a:p>
        </p:txBody>
      </p:sp>
      <p:sp>
        <p:nvSpPr>
          <p:cNvPr id="12" name="Text 10"/>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30 rows returned: 6 conditions × 5 insurance providers</a:t>
            </a:r>
            <a:endParaRPr lang="en-US" sz="1000" dirty="0"/>
          </a:p>
        </p:txBody>
      </p:sp>
      <p:sp>
        <p:nvSpPr>
          <p:cNvPr id="13" name="Text 11"/>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Lab 3 — Anatomy of the Ingestion Script</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re-runnable ingester built to survive the failures real pipelines hit.</a:t>
            </a:r>
            <a:endParaRPr lang="en-US" sz="1400" dirty="0"/>
          </a:p>
        </p:txBody>
      </p:sp>
      <p:sp>
        <p:nvSpPr>
          <p:cNvPr id="4" name="Shape 2"/>
          <p:cNvSpPr/>
          <p:nvPr/>
        </p:nvSpPr>
        <p:spPr>
          <a:xfrm>
            <a:off x="548640" y="1874520"/>
            <a:ext cx="2606040" cy="4206240"/>
          </a:xfrm>
          <a:prstGeom prst="roundRect">
            <a:avLst>
              <a:gd name="adj" fmla="val 4211"/>
            </a:avLst>
          </a:prstGeom>
          <a:solidFill>
            <a:srgbClr val="F4F6FB"/>
          </a:solidFill>
          <a:ln/>
          <a:effectLst>
            <a:outerShdw blurRad="101600" dist="38100" dir="5400000" algn="bl" rotWithShape="0">
              <a:srgbClr val="0F1230">
                <a:alpha val="25000"/>
              </a:srgbClr>
            </a:outerShdw>
          </a:effectLst>
        </p:spPr>
      </p:sp>
      <p:sp>
        <p:nvSpPr>
          <p:cNvPr id="5" name="Shape 3"/>
          <p:cNvSpPr/>
          <p:nvPr/>
        </p:nvSpPr>
        <p:spPr>
          <a:xfrm>
            <a:off x="1531620" y="2194560"/>
            <a:ext cx="640080" cy="640080"/>
          </a:xfrm>
          <a:prstGeom prst="ellipse">
            <a:avLst/>
          </a:prstGeom>
          <a:solidFill>
            <a:srgbClr val="1E2761"/>
          </a:solidFill>
          <a:ln/>
        </p:spPr>
      </p:sp>
      <p:sp>
        <p:nvSpPr>
          <p:cNvPr id="6" name="Text 4"/>
          <p:cNvSpPr/>
          <p:nvPr/>
        </p:nvSpPr>
        <p:spPr>
          <a:xfrm>
            <a:off x="1531620" y="21945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7" name="Text 5"/>
          <p:cNvSpPr/>
          <p:nvPr/>
        </p:nvSpPr>
        <p:spPr>
          <a:xfrm>
            <a:off x="731520" y="3063240"/>
            <a:ext cx="2240280" cy="640080"/>
          </a:xfrm>
          <a:prstGeom prst="rect">
            <a:avLst/>
          </a:prstGeom>
          <a:noFill/>
          <a:ln/>
        </p:spPr>
        <p:txBody>
          <a:bodyPr wrap="square" rtlCol="0" anchor="ctr"/>
          <a:lstStyle/>
          <a:p>
            <a:pPr marL="0" indent="0" algn="ctr">
              <a:buNone/>
            </a:pPr>
            <a:r>
              <a:rPr lang="en-US" sz="1450" b="1" dirty="0">
                <a:solidFill>
                  <a:srgbClr val="1A1D29"/>
                </a:solidFill>
                <a:latin typeface="Cambria" pitchFamily="34" charset="0"/>
                <a:ea typeface="Cambria" pitchFamily="34" charset="-122"/>
                <a:cs typeface="Cambria" pitchFamily="34" charset="-120"/>
              </a:rPr>
              <a:t>Fetch Defensively</a:t>
            </a:r>
            <a:endParaRPr lang="en-US" sz="1450" dirty="0"/>
          </a:p>
        </p:txBody>
      </p:sp>
      <p:sp>
        <p:nvSpPr>
          <p:cNvPr id="8" name="Text 6"/>
          <p:cNvSpPr/>
          <p:nvPr/>
        </p:nvSpPr>
        <p:spPr>
          <a:xfrm>
            <a:off x="731520" y="3703320"/>
            <a:ext cx="2240280" cy="2194560"/>
          </a:xfrm>
          <a:prstGeom prst="rect">
            <a:avLst/>
          </a:prstGeom>
          <a:noFill/>
          <a:ln/>
        </p:spPr>
        <p:txBody>
          <a:bodyPr wrap="square" rtlCol="0" anchor="t"/>
          <a:lstStyle/>
          <a:p>
            <a:pPr marL="0" indent="0">
              <a:buNone/>
            </a:pPr>
            <a:r>
              <a:rPr lang="en-US" sz="1100" dirty="0">
                <a:solidFill>
                  <a:srgbClr val="6B7280"/>
                </a:solidFill>
                <a:latin typeface="Calibri" pitchFamily="34" charset="0"/>
                <a:ea typeface="Calibri" pitchFamily="34" charset="-122"/>
                <a:cs typeface="Calibri" pitchFamily="34" charset="-120"/>
              </a:rPr>
              <a:t>Check the source file exists and is readable before touching it; fail loudly with a clear error otherwise.</a:t>
            </a:r>
            <a:endParaRPr lang="en-US" sz="1100" dirty="0"/>
          </a:p>
        </p:txBody>
      </p:sp>
      <p:sp>
        <p:nvSpPr>
          <p:cNvPr id="9" name="Shape 7"/>
          <p:cNvSpPr/>
          <p:nvPr/>
        </p:nvSpPr>
        <p:spPr>
          <a:xfrm>
            <a:off x="3337560" y="1874520"/>
            <a:ext cx="2606040" cy="4206240"/>
          </a:xfrm>
          <a:prstGeom prst="roundRect">
            <a:avLst>
              <a:gd name="adj" fmla="val 4211"/>
            </a:avLst>
          </a:prstGeom>
          <a:solidFill>
            <a:srgbClr val="F4F6FB"/>
          </a:solidFill>
          <a:ln/>
          <a:effectLst>
            <a:outerShdw blurRad="101600" dist="38100" dir="5400000" algn="bl" rotWithShape="0">
              <a:srgbClr val="0F1230">
                <a:alpha val="25000"/>
              </a:srgbClr>
            </a:outerShdw>
          </a:effectLst>
        </p:spPr>
      </p:sp>
      <p:sp>
        <p:nvSpPr>
          <p:cNvPr id="10" name="Shape 8"/>
          <p:cNvSpPr/>
          <p:nvPr/>
        </p:nvSpPr>
        <p:spPr>
          <a:xfrm>
            <a:off x="4320540" y="2194560"/>
            <a:ext cx="640080" cy="640080"/>
          </a:xfrm>
          <a:prstGeom prst="ellipse">
            <a:avLst/>
          </a:prstGeom>
          <a:solidFill>
            <a:srgbClr val="1E2761"/>
          </a:solidFill>
          <a:ln/>
        </p:spPr>
      </p:sp>
      <p:sp>
        <p:nvSpPr>
          <p:cNvPr id="11" name="Text 9"/>
          <p:cNvSpPr/>
          <p:nvPr/>
        </p:nvSpPr>
        <p:spPr>
          <a:xfrm>
            <a:off x="4320540" y="21945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2" name="Text 10"/>
          <p:cNvSpPr/>
          <p:nvPr/>
        </p:nvSpPr>
        <p:spPr>
          <a:xfrm>
            <a:off x="3520440" y="3063240"/>
            <a:ext cx="2240280" cy="640080"/>
          </a:xfrm>
          <a:prstGeom prst="rect">
            <a:avLst/>
          </a:prstGeom>
          <a:noFill/>
          <a:ln/>
        </p:spPr>
        <p:txBody>
          <a:bodyPr wrap="square" rtlCol="0" anchor="ctr"/>
          <a:lstStyle/>
          <a:p>
            <a:pPr marL="0" indent="0" algn="ctr">
              <a:buNone/>
            </a:pPr>
            <a:r>
              <a:rPr lang="en-US" sz="1450" b="1" dirty="0">
                <a:solidFill>
                  <a:srgbClr val="1A1D29"/>
                </a:solidFill>
                <a:latin typeface="Cambria" pitchFamily="34" charset="0"/>
                <a:ea typeface="Cambria" pitchFamily="34" charset="-122"/>
                <a:cs typeface="Cambria" pitchFamily="34" charset="-120"/>
              </a:rPr>
              <a:t>Validate at the Door</a:t>
            </a:r>
            <a:endParaRPr lang="en-US" sz="1450" dirty="0"/>
          </a:p>
        </p:txBody>
      </p:sp>
      <p:sp>
        <p:nvSpPr>
          <p:cNvPr id="13" name="Text 11"/>
          <p:cNvSpPr/>
          <p:nvPr/>
        </p:nvSpPr>
        <p:spPr>
          <a:xfrm>
            <a:off x="3520440" y="3703320"/>
            <a:ext cx="2240280" cy="2194560"/>
          </a:xfrm>
          <a:prstGeom prst="rect">
            <a:avLst/>
          </a:prstGeom>
          <a:noFill/>
          <a:ln/>
        </p:spPr>
        <p:txBody>
          <a:bodyPr wrap="square" rtlCol="0" anchor="t"/>
          <a:lstStyle/>
          <a:p>
            <a:pPr marL="0" indent="0">
              <a:buNone/>
            </a:pPr>
            <a:r>
              <a:rPr lang="en-US" sz="1100" dirty="0">
                <a:solidFill>
                  <a:srgbClr val="6B7280"/>
                </a:solidFill>
                <a:latin typeface="Calibri" pitchFamily="34" charset="0"/>
                <a:ea typeface="Calibri" pitchFamily="34" charset="-122"/>
                <a:cs typeface="Calibri" pitchFamily="34" charset="-120"/>
              </a:rPr>
              <a:t>Confirm expected columns are present; reject rows with negative billing amounts before they ever reach the database.</a:t>
            </a:r>
            <a:endParaRPr lang="en-US" sz="1100" dirty="0"/>
          </a:p>
        </p:txBody>
      </p:sp>
      <p:sp>
        <p:nvSpPr>
          <p:cNvPr id="14" name="Shape 12"/>
          <p:cNvSpPr/>
          <p:nvPr/>
        </p:nvSpPr>
        <p:spPr>
          <a:xfrm>
            <a:off x="6126480" y="1874520"/>
            <a:ext cx="2606040" cy="4206240"/>
          </a:xfrm>
          <a:prstGeom prst="roundRect">
            <a:avLst>
              <a:gd name="adj" fmla="val 4211"/>
            </a:avLst>
          </a:prstGeom>
          <a:solidFill>
            <a:srgbClr val="F4F6FB"/>
          </a:solidFill>
          <a:ln/>
          <a:effectLst>
            <a:outerShdw blurRad="101600" dist="38100" dir="5400000" algn="bl" rotWithShape="0">
              <a:srgbClr val="0F1230">
                <a:alpha val="25000"/>
              </a:srgbClr>
            </a:outerShdw>
          </a:effectLst>
        </p:spPr>
      </p:sp>
      <p:sp>
        <p:nvSpPr>
          <p:cNvPr id="15" name="Shape 13"/>
          <p:cNvSpPr/>
          <p:nvPr/>
        </p:nvSpPr>
        <p:spPr>
          <a:xfrm>
            <a:off x="7109460" y="2194560"/>
            <a:ext cx="640080" cy="640080"/>
          </a:xfrm>
          <a:prstGeom prst="ellipse">
            <a:avLst/>
          </a:prstGeom>
          <a:solidFill>
            <a:srgbClr val="1E2761"/>
          </a:solidFill>
          <a:ln/>
        </p:spPr>
      </p:sp>
      <p:sp>
        <p:nvSpPr>
          <p:cNvPr id="16" name="Text 14"/>
          <p:cNvSpPr/>
          <p:nvPr/>
        </p:nvSpPr>
        <p:spPr>
          <a:xfrm>
            <a:off x="7109460" y="21945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3</a:t>
            </a:r>
            <a:endParaRPr lang="en-US" sz="1820" dirty="0"/>
          </a:p>
        </p:txBody>
      </p:sp>
      <p:sp>
        <p:nvSpPr>
          <p:cNvPr id="17" name="Text 15"/>
          <p:cNvSpPr/>
          <p:nvPr/>
        </p:nvSpPr>
        <p:spPr>
          <a:xfrm>
            <a:off x="6309360" y="3063240"/>
            <a:ext cx="2240280" cy="640080"/>
          </a:xfrm>
          <a:prstGeom prst="rect">
            <a:avLst/>
          </a:prstGeom>
          <a:noFill/>
          <a:ln/>
        </p:spPr>
        <p:txBody>
          <a:bodyPr wrap="square" rtlCol="0" anchor="ctr"/>
          <a:lstStyle/>
          <a:p>
            <a:pPr marL="0" indent="0" algn="ctr">
              <a:buNone/>
            </a:pPr>
            <a:r>
              <a:rPr lang="en-US" sz="1450" b="1" dirty="0">
                <a:solidFill>
                  <a:srgbClr val="1A1D29"/>
                </a:solidFill>
                <a:latin typeface="Cambria" pitchFamily="34" charset="0"/>
                <a:ea typeface="Cambria" pitchFamily="34" charset="-122"/>
                <a:cs typeface="Cambria" pitchFamily="34" charset="-120"/>
              </a:rPr>
              <a:t>Load Idempotently</a:t>
            </a:r>
            <a:endParaRPr lang="en-US" sz="1450" dirty="0"/>
          </a:p>
        </p:txBody>
      </p:sp>
      <p:sp>
        <p:nvSpPr>
          <p:cNvPr id="18" name="Text 16"/>
          <p:cNvSpPr/>
          <p:nvPr/>
        </p:nvSpPr>
        <p:spPr>
          <a:xfrm>
            <a:off x="6309360" y="3703320"/>
            <a:ext cx="2240280" cy="2194560"/>
          </a:xfrm>
          <a:prstGeom prst="rect">
            <a:avLst/>
          </a:prstGeom>
          <a:noFill/>
          <a:ln/>
        </p:spPr>
        <p:txBody>
          <a:bodyPr wrap="square" rtlCol="0" anchor="t"/>
          <a:lstStyle/>
          <a:p>
            <a:pPr marL="0" indent="0">
              <a:buNone/>
            </a:pPr>
            <a:r>
              <a:rPr lang="en-US" sz="1100" dirty="0">
                <a:solidFill>
                  <a:srgbClr val="6B7280"/>
                </a:solidFill>
                <a:latin typeface="Calibri" pitchFamily="34" charset="0"/>
                <a:ea typeface="Calibri" pitchFamily="34" charset="-122"/>
                <a:cs typeface="Calibri" pitchFamily="34" charset="-120"/>
              </a:rPr>
              <a:t>Hash every column per row into a stable row_hash primary key; use INSERT OR REPLACE so re-runs never duplicate.</a:t>
            </a:r>
            <a:endParaRPr lang="en-US" sz="1100" dirty="0"/>
          </a:p>
        </p:txBody>
      </p:sp>
      <p:sp>
        <p:nvSpPr>
          <p:cNvPr id="19" name="Shape 17"/>
          <p:cNvSpPr/>
          <p:nvPr/>
        </p:nvSpPr>
        <p:spPr>
          <a:xfrm>
            <a:off x="8915400" y="1874520"/>
            <a:ext cx="2606040" cy="4206240"/>
          </a:xfrm>
          <a:prstGeom prst="roundRect">
            <a:avLst>
              <a:gd name="adj" fmla="val 4211"/>
            </a:avLst>
          </a:prstGeom>
          <a:solidFill>
            <a:srgbClr val="F4F6FB"/>
          </a:solidFill>
          <a:ln/>
          <a:effectLst>
            <a:outerShdw blurRad="101600" dist="38100" dir="5400000" algn="bl" rotWithShape="0">
              <a:srgbClr val="0F1230">
                <a:alpha val="25000"/>
              </a:srgbClr>
            </a:outerShdw>
          </a:effectLst>
        </p:spPr>
      </p:sp>
      <p:sp>
        <p:nvSpPr>
          <p:cNvPr id="20" name="Shape 18"/>
          <p:cNvSpPr/>
          <p:nvPr/>
        </p:nvSpPr>
        <p:spPr>
          <a:xfrm>
            <a:off x="9898380" y="2194560"/>
            <a:ext cx="640080" cy="640080"/>
          </a:xfrm>
          <a:prstGeom prst="ellipse">
            <a:avLst/>
          </a:prstGeom>
          <a:solidFill>
            <a:srgbClr val="1E2761"/>
          </a:solidFill>
          <a:ln/>
        </p:spPr>
      </p:sp>
      <p:sp>
        <p:nvSpPr>
          <p:cNvPr id="21" name="Text 19"/>
          <p:cNvSpPr/>
          <p:nvPr/>
        </p:nvSpPr>
        <p:spPr>
          <a:xfrm>
            <a:off x="9898380" y="21945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4</a:t>
            </a:r>
            <a:endParaRPr lang="en-US" sz="1820" dirty="0"/>
          </a:p>
        </p:txBody>
      </p:sp>
      <p:sp>
        <p:nvSpPr>
          <p:cNvPr id="22" name="Text 20"/>
          <p:cNvSpPr/>
          <p:nvPr/>
        </p:nvSpPr>
        <p:spPr>
          <a:xfrm>
            <a:off x="9098280" y="3063240"/>
            <a:ext cx="2240280" cy="640080"/>
          </a:xfrm>
          <a:prstGeom prst="rect">
            <a:avLst/>
          </a:prstGeom>
          <a:noFill/>
          <a:ln/>
        </p:spPr>
        <p:txBody>
          <a:bodyPr wrap="square" rtlCol="0" anchor="ctr"/>
          <a:lstStyle/>
          <a:p>
            <a:pPr marL="0" indent="0" algn="ctr">
              <a:buNone/>
            </a:pPr>
            <a:r>
              <a:rPr lang="en-US" sz="1450" b="1" dirty="0">
                <a:solidFill>
                  <a:srgbClr val="1A1D29"/>
                </a:solidFill>
                <a:latin typeface="Cambria" pitchFamily="34" charset="0"/>
                <a:ea typeface="Cambria" pitchFamily="34" charset="-122"/>
                <a:cs typeface="Cambria" pitchFamily="34" charset="-120"/>
              </a:rPr>
              <a:t>Log Everything</a:t>
            </a:r>
            <a:endParaRPr lang="en-US" sz="1450" dirty="0"/>
          </a:p>
        </p:txBody>
      </p:sp>
      <p:sp>
        <p:nvSpPr>
          <p:cNvPr id="23" name="Text 21"/>
          <p:cNvSpPr/>
          <p:nvPr/>
        </p:nvSpPr>
        <p:spPr>
          <a:xfrm>
            <a:off x="9098280" y="3703320"/>
            <a:ext cx="2240280" cy="2194560"/>
          </a:xfrm>
          <a:prstGeom prst="rect">
            <a:avLst/>
          </a:prstGeom>
          <a:noFill/>
          <a:ln/>
        </p:spPr>
        <p:txBody>
          <a:bodyPr wrap="square" rtlCol="0" anchor="t"/>
          <a:lstStyle/>
          <a:p>
            <a:pPr marL="0" indent="0">
              <a:buNone/>
            </a:pPr>
            <a:r>
              <a:rPr lang="en-US" sz="1100" dirty="0">
                <a:solidFill>
                  <a:srgbClr val="6B7280"/>
                </a:solidFill>
                <a:latin typeface="Calibri" pitchFamily="34" charset="0"/>
                <a:ea typeface="Calibri" pitchFamily="34" charset="-122"/>
                <a:cs typeface="Calibri" pitchFamily="34" charset="-120"/>
              </a:rPr>
              <a:t>Every run records rows read, validated, rejected, and the before/after row count — a full audit trail.</a:t>
            </a:r>
            <a:endParaRPr lang="en-US" sz="1100" dirty="0"/>
          </a:p>
        </p:txBody>
      </p:sp>
      <p:sp>
        <p:nvSpPr>
          <p:cNvPr id="24" name="Text 22"/>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Source: file drop (CSV) — the simplest of the four intake types</a:t>
            </a:r>
            <a:endParaRPr lang="en-US" sz="1000" dirty="0"/>
          </a:p>
        </p:txBody>
      </p:sp>
      <p:sp>
        <p:nvSpPr>
          <p:cNvPr id="25" name="Text 23"/>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Lab 3 — Proof of Idempotency</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classic test: run it twice, count the rows.</a:t>
            </a:r>
            <a:endParaRPr lang="en-US" sz="1400" dirty="0"/>
          </a:p>
        </p:txBody>
      </p:sp>
      <p:sp>
        <p:nvSpPr>
          <p:cNvPr id="4" name="Shape 2"/>
          <p:cNvSpPr/>
          <p:nvPr/>
        </p:nvSpPr>
        <p:spPr>
          <a:xfrm>
            <a:off x="822960" y="1920240"/>
            <a:ext cx="5120640" cy="3566160"/>
          </a:xfrm>
          <a:prstGeom prst="roundRect">
            <a:avLst>
              <a:gd name="adj" fmla="val 3077"/>
            </a:avLst>
          </a:prstGeom>
          <a:solidFill>
            <a:srgbClr val="FFFFFF"/>
          </a:solidFill>
          <a:ln/>
          <a:effectLst>
            <a:outerShdw blurRad="101600" dist="38100" dir="5400000" algn="bl" rotWithShape="0">
              <a:srgbClr val="0F1230">
                <a:alpha val="25000"/>
              </a:srgbClr>
            </a:outerShdw>
          </a:effectLst>
        </p:spPr>
      </p:sp>
      <p:sp>
        <p:nvSpPr>
          <p:cNvPr id="5" name="Text 3"/>
          <p:cNvSpPr/>
          <p:nvPr/>
        </p:nvSpPr>
        <p:spPr>
          <a:xfrm>
            <a:off x="1188720" y="2194560"/>
            <a:ext cx="4389120" cy="365760"/>
          </a:xfrm>
          <a:prstGeom prst="rect">
            <a:avLst/>
          </a:prstGeom>
          <a:noFill/>
          <a:ln/>
        </p:spPr>
        <p:txBody>
          <a:bodyPr wrap="square" rtlCol="0" anchor="ctr"/>
          <a:lstStyle/>
          <a:p>
            <a:pPr marL="0" indent="0">
              <a:buNone/>
            </a:pPr>
            <a:r>
              <a:rPr lang="en-US" sz="1300" b="1" kern="0" spc="150" dirty="0">
                <a:solidFill>
                  <a:srgbClr val="E8A33D"/>
                </a:solidFill>
                <a:latin typeface="Calibri" pitchFamily="34" charset="0"/>
                <a:ea typeface="Calibri" pitchFamily="34" charset="-122"/>
                <a:cs typeface="Calibri" pitchFamily="34" charset="-120"/>
              </a:rPr>
              <a:t>RUN 1</a:t>
            </a:r>
            <a:endParaRPr lang="en-US" sz="1300" dirty="0"/>
          </a:p>
        </p:txBody>
      </p:sp>
      <p:sp>
        <p:nvSpPr>
          <p:cNvPr id="6" name="Text 4"/>
          <p:cNvSpPr/>
          <p:nvPr/>
        </p:nvSpPr>
        <p:spPr>
          <a:xfrm>
            <a:off x="1188720" y="2697480"/>
            <a:ext cx="2011680" cy="914400"/>
          </a:xfrm>
          <a:prstGeom prst="rect">
            <a:avLst/>
          </a:prstGeom>
          <a:noFill/>
          <a:ln/>
        </p:spPr>
        <p:txBody>
          <a:bodyPr wrap="square" rtlCol="0" anchor="ctr"/>
          <a:lstStyle/>
          <a:p>
            <a:pPr marL="0" indent="0">
              <a:buNone/>
            </a:pPr>
            <a:r>
              <a:rPr lang="en-US" sz="3000" b="1" dirty="0">
                <a:solidFill>
                  <a:srgbClr val="5B6B8C"/>
                </a:solidFill>
                <a:latin typeface="Cambria" pitchFamily="34" charset="0"/>
                <a:ea typeface="Cambria" pitchFamily="34" charset="-122"/>
                <a:cs typeface="Cambria" pitchFamily="34" charset="-120"/>
              </a:rPr>
              <a:t>0</a:t>
            </a:r>
            <a:endParaRPr lang="en-US" sz="3000" dirty="0"/>
          </a:p>
        </p:txBody>
      </p:sp>
      <p:sp>
        <p:nvSpPr>
          <p:cNvPr id="7" name="Text 5"/>
          <p:cNvSpPr/>
          <p:nvPr/>
        </p:nvSpPr>
        <p:spPr>
          <a:xfrm>
            <a:off x="1188720" y="3520440"/>
            <a:ext cx="2011680" cy="3200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before</a:t>
            </a:r>
            <a:endParaRPr lang="en-US" sz="1100" dirty="0"/>
          </a:p>
        </p:txBody>
      </p:sp>
      <p:sp>
        <p:nvSpPr>
          <p:cNvPr id="8" name="Text 6"/>
          <p:cNvSpPr/>
          <p:nvPr/>
        </p:nvSpPr>
        <p:spPr>
          <a:xfrm>
            <a:off x="3200400" y="2834640"/>
            <a:ext cx="731520" cy="731520"/>
          </a:xfrm>
          <a:prstGeom prst="rect">
            <a:avLst/>
          </a:prstGeom>
          <a:noFill/>
          <a:ln/>
        </p:spPr>
        <p:txBody>
          <a:bodyPr wrap="square"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3749040" y="2697480"/>
            <a:ext cx="2011680" cy="9144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54,860</a:t>
            </a:r>
            <a:endParaRPr lang="en-US" sz="3000" dirty="0"/>
          </a:p>
        </p:txBody>
      </p:sp>
      <p:sp>
        <p:nvSpPr>
          <p:cNvPr id="10" name="Text 8"/>
          <p:cNvSpPr/>
          <p:nvPr/>
        </p:nvSpPr>
        <p:spPr>
          <a:xfrm>
            <a:off x="3749040" y="3520440"/>
            <a:ext cx="2011680" cy="3200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after</a:t>
            </a:r>
            <a:endParaRPr lang="en-US" sz="1100" dirty="0"/>
          </a:p>
        </p:txBody>
      </p:sp>
      <p:sp>
        <p:nvSpPr>
          <p:cNvPr id="11" name="Text 9"/>
          <p:cNvSpPr/>
          <p:nvPr/>
        </p:nvSpPr>
        <p:spPr>
          <a:xfrm>
            <a:off x="1188720" y="4206240"/>
            <a:ext cx="4389120" cy="109728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55,392 valid rows in, 532 exact-duplicate</a:t>
            </a:r>
            <a:endParaRPr lang="en-US" sz="1200" dirty="0"/>
          </a:p>
          <a:p>
            <a:pPr marL="0" indent="0">
              <a:buNone/>
            </a:pPr>
            <a:r>
              <a:rPr lang="en-US" sz="1200" dirty="0">
                <a:solidFill>
                  <a:srgbClr val="6B7280"/>
                </a:solidFill>
                <a:latin typeface="Calibri" pitchFamily="34" charset="0"/>
                <a:ea typeface="Calibri" pitchFamily="34" charset="-122"/>
                <a:cs typeface="Calibri" pitchFamily="34" charset="-120"/>
              </a:rPr>
              <a:t>row-hashes deduplicated</a:t>
            </a:r>
            <a:endParaRPr lang="en-US" sz="1200" dirty="0"/>
          </a:p>
        </p:txBody>
      </p:sp>
      <p:sp>
        <p:nvSpPr>
          <p:cNvPr id="12" name="Shape 10"/>
          <p:cNvSpPr/>
          <p:nvPr/>
        </p:nvSpPr>
        <p:spPr>
          <a:xfrm>
            <a:off x="6400800" y="1920240"/>
            <a:ext cx="5120640" cy="3566160"/>
          </a:xfrm>
          <a:prstGeom prst="roundRect">
            <a:avLst>
              <a:gd name="adj" fmla="val 3077"/>
            </a:avLst>
          </a:prstGeom>
          <a:solidFill>
            <a:srgbClr val="FFFFFF"/>
          </a:solidFill>
          <a:ln/>
          <a:effectLst>
            <a:outerShdw blurRad="101600" dist="38100" dir="5400000" algn="bl" rotWithShape="0">
              <a:srgbClr val="0F1230">
                <a:alpha val="25000"/>
              </a:srgbClr>
            </a:outerShdw>
          </a:effectLst>
        </p:spPr>
      </p:sp>
      <p:sp>
        <p:nvSpPr>
          <p:cNvPr id="13" name="Text 11"/>
          <p:cNvSpPr/>
          <p:nvPr/>
        </p:nvSpPr>
        <p:spPr>
          <a:xfrm>
            <a:off x="6766560" y="2194560"/>
            <a:ext cx="4389120" cy="365760"/>
          </a:xfrm>
          <a:prstGeom prst="rect">
            <a:avLst/>
          </a:prstGeom>
          <a:noFill/>
          <a:ln/>
        </p:spPr>
        <p:txBody>
          <a:bodyPr wrap="square" rtlCol="0" anchor="ctr"/>
          <a:lstStyle/>
          <a:p>
            <a:pPr marL="0" indent="0">
              <a:buNone/>
            </a:pPr>
            <a:r>
              <a:rPr lang="en-US" sz="1300" b="1" kern="0" spc="150" dirty="0">
                <a:solidFill>
                  <a:srgbClr val="E8A33D"/>
                </a:solidFill>
                <a:latin typeface="Calibri" pitchFamily="34" charset="0"/>
                <a:ea typeface="Calibri" pitchFamily="34" charset="-122"/>
                <a:cs typeface="Calibri" pitchFamily="34" charset="-120"/>
              </a:rPr>
              <a:t>RUN 2</a:t>
            </a:r>
            <a:endParaRPr lang="en-US" sz="1300" dirty="0"/>
          </a:p>
        </p:txBody>
      </p:sp>
      <p:sp>
        <p:nvSpPr>
          <p:cNvPr id="14" name="Text 12"/>
          <p:cNvSpPr/>
          <p:nvPr/>
        </p:nvSpPr>
        <p:spPr>
          <a:xfrm>
            <a:off x="6766560" y="2697480"/>
            <a:ext cx="2011680" cy="914400"/>
          </a:xfrm>
          <a:prstGeom prst="rect">
            <a:avLst/>
          </a:prstGeom>
          <a:noFill/>
          <a:ln/>
        </p:spPr>
        <p:txBody>
          <a:bodyPr wrap="square" rtlCol="0" anchor="ctr"/>
          <a:lstStyle/>
          <a:p>
            <a:pPr marL="0" indent="0">
              <a:buNone/>
            </a:pPr>
            <a:r>
              <a:rPr lang="en-US" sz="3000" b="1" dirty="0">
                <a:solidFill>
                  <a:srgbClr val="5B6B8C"/>
                </a:solidFill>
                <a:latin typeface="Cambria" pitchFamily="34" charset="0"/>
                <a:ea typeface="Cambria" pitchFamily="34" charset="-122"/>
                <a:cs typeface="Cambria" pitchFamily="34" charset="-120"/>
              </a:rPr>
              <a:t>54,860</a:t>
            </a:r>
            <a:endParaRPr lang="en-US" sz="3000" dirty="0"/>
          </a:p>
        </p:txBody>
      </p:sp>
      <p:sp>
        <p:nvSpPr>
          <p:cNvPr id="15" name="Text 13"/>
          <p:cNvSpPr/>
          <p:nvPr/>
        </p:nvSpPr>
        <p:spPr>
          <a:xfrm>
            <a:off x="6766560" y="3520440"/>
            <a:ext cx="2011680" cy="3200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before</a:t>
            </a:r>
            <a:endParaRPr lang="en-US" sz="1100" dirty="0"/>
          </a:p>
        </p:txBody>
      </p:sp>
      <p:sp>
        <p:nvSpPr>
          <p:cNvPr id="16" name="Text 14"/>
          <p:cNvSpPr/>
          <p:nvPr/>
        </p:nvSpPr>
        <p:spPr>
          <a:xfrm>
            <a:off x="8778240" y="2834640"/>
            <a:ext cx="731520" cy="731520"/>
          </a:xfrm>
          <a:prstGeom prst="rect">
            <a:avLst/>
          </a:prstGeom>
          <a:noFill/>
          <a:ln/>
        </p:spPr>
        <p:txBody>
          <a:bodyPr wrap="square"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9326880" y="2697480"/>
            <a:ext cx="2011680" cy="9144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54,860</a:t>
            </a:r>
            <a:endParaRPr lang="en-US" sz="3000" dirty="0"/>
          </a:p>
        </p:txBody>
      </p:sp>
      <p:sp>
        <p:nvSpPr>
          <p:cNvPr id="18" name="Text 16"/>
          <p:cNvSpPr/>
          <p:nvPr/>
        </p:nvSpPr>
        <p:spPr>
          <a:xfrm>
            <a:off x="9326880" y="3520440"/>
            <a:ext cx="2011680" cy="3200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after</a:t>
            </a:r>
            <a:endParaRPr lang="en-US" sz="1100" dirty="0"/>
          </a:p>
        </p:txBody>
      </p:sp>
      <p:sp>
        <p:nvSpPr>
          <p:cNvPr id="19" name="Text 17"/>
          <p:cNvSpPr/>
          <p:nvPr/>
        </p:nvSpPr>
        <p:spPr>
          <a:xfrm>
            <a:off x="6766560" y="4206240"/>
            <a:ext cx="4389120" cy="109728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Identical script, identical source —</a:t>
            </a:r>
            <a:endParaRPr lang="en-US" sz="1200" dirty="0"/>
          </a:p>
          <a:p>
            <a:pPr marL="0" indent="0">
              <a:buNone/>
            </a:pPr>
            <a:r>
              <a:rPr lang="en-US" sz="1200" dirty="0">
                <a:solidFill>
                  <a:srgbClr val="6B7280"/>
                </a:solidFill>
                <a:latin typeface="Calibri" pitchFamily="34" charset="0"/>
                <a:ea typeface="Calibri" pitchFamily="34" charset="-122"/>
                <a:cs typeface="Calibri" pitchFamily="34" charset="-120"/>
              </a:rPr>
              <a:t>zero new rows, zero duplicates</a:t>
            </a:r>
            <a:endParaRPr lang="en-US" sz="1200" dirty="0"/>
          </a:p>
        </p:txBody>
      </p:sp>
      <p:sp>
        <p:nvSpPr>
          <p:cNvPr id="20" name="Text 18"/>
          <p:cNvSpPr/>
          <p:nvPr/>
        </p:nvSpPr>
        <p:spPr>
          <a:xfrm>
            <a:off x="822960" y="5715000"/>
            <a:ext cx="10241280" cy="457200"/>
          </a:xfrm>
          <a:prstGeom prst="rect">
            <a:avLst/>
          </a:prstGeom>
          <a:noFill/>
          <a:ln/>
        </p:spPr>
        <p:txBody>
          <a:bodyPr wrap="square" rtlCol="0" anchor="ctr"/>
          <a:lstStyle/>
          <a:p>
            <a:pPr marL="0" indent="0" algn="ctr">
              <a:buNone/>
            </a:pPr>
            <a:r>
              <a:rPr lang="en-US" sz="1400" i="1" dirty="0">
                <a:solidFill>
                  <a:srgbClr val="E8A33D"/>
                </a:solidFill>
                <a:latin typeface="Calibri" pitchFamily="34" charset="0"/>
                <a:ea typeface="Calibri" pitchFamily="34" charset="-122"/>
                <a:cs typeface="Calibri" pitchFamily="34" charset="-120"/>
              </a:rPr>
              <a:t>Result: identical row counts on re-run — the pipeline is safe to retry after any crash.</a:t>
            </a:r>
            <a:endParaRPr lang="en-US" sz="1400" dirty="0"/>
          </a:p>
        </p:txBody>
      </p:sp>
      <p:sp>
        <p:nvSpPr>
          <p:cNvPr id="21" name="Text 19"/>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Row-hash primary key + INSERT OR REPLACE, verified in the logs</a:t>
            </a:r>
            <a:endParaRPr lang="en-US" sz="1000" dirty="0"/>
          </a:p>
        </p:txBody>
      </p:sp>
      <p:sp>
        <p:nvSpPr>
          <p:cNvPr id="22" name="Text 20"/>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A1D29"/>
                </a:solidFill>
                <a:latin typeface="Cambria" pitchFamily="34" charset="0"/>
                <a:ea typeface="Cambria" pitchFamily="34" charset="-122"/>
                <a:cs typeface="Cambria" pitchFamily="34" charset="-120"/>
              </a:rPr>
              <a:t>Key Learnings</a:t>
            </a:r>
            <a:endParaRPr lang="en-US" sz="30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Principles that carried across all three labs.</a:t>
            </a:r>
            <a:endParaRPr lang="en-US" sz="1400" dirty="0"/>
          </a:p>
        </p:txBody>
      </p:sp>
      <p:sp>
        <p:nvSpPr>
          <p:cNvPr id="4" name="Shape 2"/>
          <p:cNvSpPr/>
          <p:nvPr/>
        </p:nvSpPr>
        <p:spPr>
          <a:xfrm>
            <a:off x="548640" y="1874520"/>
            <a:ext cx="5120640" cy="1874520"/>
          </a:xfrm>
          <a:prstGeom prst="roundRect">
            <a:avLst>
              <a:gd name="adj" fmla="val 4878"/>
            </a:avLst>
          </a:prstGeom>
          <a:solidFill>
            <a:srgbClr val="F4F6FB"/>
          </a:solidFill>
          <a:ln/>
          <a:effectLst>
            <a:outerShdw blurRad="101600" dist="38100" dir="5400000" algn="bl" rotWithShape="0">
              <a:srgbClr val="0F1230">
                <a:alpha val="25000"/>
              </a:srgbClr>
            </a:outerShdw>
          </a:effectLst>
        </p:spPr>
      </p:sp>
      <p:sp>
        <p:nvSpPr>
          <p:cNvPr id="5" name="Shape 3"/>
          <p:cNvSpPr/>
          <p:nvPr/>
        </p:nvSpPr>
        <p:spPr>
          <a:xfrm>
            <a:off x="822960" y="2194560"/>
            <a:ext cx="128016" cy="128016"/>
          </a:xfrm>
          <a:prstGeom prst="ellipse">
            <a:avLst/>
          </a:prstGeom>
          <a:solidFill>
            <a:srgbClr val="E8A33D"/>
          </a:solidFill>
          <a:ln/>
        </p:spPr>
      </p:sp>
      <p:sp>
        <p:nvSpPr>
          <p:cNvPr id="6" name="Text 4"/>
          <p:cNvSpPr/>
          <p:nvPr/>
        </p:nvSpPr>
        <p:spPr>
          <a:xfrm>
            <a:off x="1097280" y="2075688"/>
            <a:ext cx="4297680" cy="411480"/>
          </a:xfrm>
          <a:prstGeom prst="rect">
            <a:avLst/>
          </a:prstGeom>
          <a:noFill/>
          <a:ln/>
        </p:spPr>
        <p:txBody>
          <a:bodyPr wrap="square" rtlCol="0" anchor="ctr"/>
          <a:lstStyle/>
          <a:p>
            <a:pPr marL="0" indent="0">
              <a:buNone/>
            </a:pPr>
            <a:r>
              <a:rPr lang="en-US" sz="1500" b="1" dirty="0">
                <a:solidFill>
                  <a:srgbClr val="1A1D29"/>
                </a:solidFill>
                <a:latin typeface="Cambria" pitchFamily="34" charset="0"/>
                <a:ea typeface="Cambria" pitchFamily="34" charset="-122"/>
                <a:cs typeface="Cambria" pitchFamily="34" charset="-120"/>
              </a:rPr>
              <a:t>Evidence before assumptions</a:t>
            </a:r>
            <a:endParaRPr lang="en-US" sz="1500" dirty="0"/>
          </a:p>
        </p:txBody>
      </p:sp>
      <p:sp>
        <p:nvSpPr>
          <p:cNvPr id="7" name="Text 5"/>
          <p:cNvSpPr/>
          <p:nvPr/>
        </p:nvSpPr>
        <p:spPr>
          <a:xfrm>
            <a:off x="1097280" y="2560320"/>
            <a:ext cx="4297680" cy="10515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We checked real cardinality counts before deciding what becomes a dimension table — never assumed.</a:t>
            </a:r>
            <a:endParaRPr lang="en-US" sz="1200" dirty="0"/>
          </a:p>
        </p:txBody>
      </p:sp>
      <p:sp>
        <p:nvSpPr>
          <p:cNvPr id="8" name="Shape 6"/>
          <p:cNvSpPr/>
          <p:nvPr/>
        </p:nvSpPr>
        <p:spPr>
          <a:xfrm>
            <a:off x="6035040" y="1874520"/>
            <a:ext cx="5120640" cy="1874520"/>
          </a:xfrm>
          <a:prstGeom prst="roundRect">
            <a:avLst>
              <a:gd name="adj" fmla="val 4878"/>
            </a:avLst>
          </a:prstGeom>
          <a:solidFill>
            <a:srgbClr val="F4F6FB"/>
          </a:solidFill>
          <a:ln/>
          <a:effectLst>
            <a:outerShdw blurRad="101600" dist="38100" dir="5400000" algn="bl" rotWithShape="0">
              <a:srgbClr val="0F1230">
                <a:alpha val="25000"/>
              </a:srgbClr>
            </a:outerShdw>
          </a:effectLst>
        </p:spPr>
      </p:sp>
      <p:sp>
        <p:nvSpPr>
          <p:cNvPr id="9" name="Shape 7"/>
          <p:cNvSpPr/>
          <p:nvPr/>
        </p:nvSpPr>
        <p:spPr>
          <a:xfrm>
            <a:off x="6309360" y="2194560"/>
            <a:ext cx="128016" cy="128016"/>
          </a:xfrm>
          <a:prstGeom prst="ellipse">
            <a:avLst/>
          </a:prstGeom>
          <a:solidFill>
            <a:srgbClr val="E8A33D"/>
          </a:solidFill>
          <a:ln/>
        </p:spPr>
      </p:sp>
      <p:sp>
        <p:nvSpPr>
          <p:cNvPr id="10" name="Text 8"/>
          <p:cNvSpPr/>
          <p:nvPr/>
        </p:nvSpPr>
        <p:spPr>
          <a:xfrm>
            <a:off x="6583680" y="2075688"/>
            <a:ext cx="4297680" cy="411480"/>
          </a:xfrm>
          <a:prstGeom prst="rect">
            <a:avLst/>
          </a:prstGeom>
          <a:noFill/>
          <a:ln/>
        </p:spPr>
        <p:txBody>
          <a:bodyPr wrap="square" rtlCol="0" anchor="ctr"/>
          <a:lstStyle/>
          <a:p>
            <a:pPr marL="0" indent="0">
              <a:buNone/>
            </a:pPr>
            <a:r>
              <a:rPr lang="en-US" sz="1500" b="1" dirty="0">
                <a:solidFill>
                  <a:srgbClr val="1A1D29"/>
                </a:solidFill>
                <a:latin typeface="Cambria" pitchFamily="34" charset="0"/>
                <a:ea typeface="Cambria" pitchFamily="34" charset="-122"/>
                <a:cs typeface="Cambria" pitchFamily="34" charset="-120"/>
              </a:rPr>
              <a:t>DDL/DML separation</a:t>
            </a:r>
            <a:endParaRPr lang="en-US" sz="1500" dirty="0"/>
          </a:p>
        </p:txBody>
      </p:sp>
      <p:sp>
        <p:nvSpPr>
          <p:cNvPr id="11" name="Text 9"/>
          <p:cNvSpPr/>
          <p:nvPr/>
        </p:nvSpPr>
        <p:spPr>
          <a:xfrm>
            <a:off x="6583680" y="2560320"/>
            <a:ext cx="4297680" cy="10515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Schema creation and data population are two distinct, auditable steps.</a:t>
            </a:r>
          </a:p>
          <a:p>
            <a:pPr marL="0" indent="0">
              <a:buNone/>
            </a:pPr>
            <a:endParaRPr lang="en-US" sz="1200" dirty="0">
              <a:solidFill>
                <a:srgbClr val="6B7280"/>
              </a:solidFill>
              <a:latin typeface="Calibri" pitchFamily="34" charset="0"/>
              <a:cs typeface="Calibri" pitchFamily="34" charset="-120"/>
            </a:endParaRPr>
          </a:p>
          <a:p>
            <a:pPr marL="0" indent="0">
              <a:buNone/>
            </a:pPr>
            <a:r>
              <a:rPr lang="en-US" sz="1200" dirty="0">
                <a:solidFill>
                  <a:srgbClr val="6B7280"/>
                </a:solidFill>
                <a:latin typeface="Calibri" pitchFamily="34" charset="0"/>
                <a:cs typeface="Calibri" pitchFamily="34" charset="-120"/>
              </a:rPr>
              <a:t>DDL – Data Definition Language (Create shape of tables)</a:t>
            </a:r>
          </a:p>
          <a:p>
            <a:pPr marL="0" indent="0">
              <a:buNone/>
            </a:pPr>
            <a:r>
              <a:rPr lang="en-US" sz="1200" dirty="0">
                <a:solidFill>
                  <a:srgbClr val="6B7280"/>
                </a:solidFill>
                <a:latin typeface="Calibri" pitchFamily="34" charset="0"/>
                <a:cs typeface="Calibri" pitchFamily="34" charset="-120"/>
              </a:rPr>
              <a:t>DML – Data Manipulation Language (Fill the tables)</a:t>
            </a:r>
          </a:p>
          <a:p>
            <a:pPr marL="0" indent="0">
              <a:buNone/>
            </a:pPr>
            <a:endParaRPr lang="en-US" sz="1200" dirty="0"/>
          </a:p>
        </p:txBody>
      </p:sp>
      <p:sp>
        <p:nvSpPr>
          <p:cNvPr id="12" name="Shape 10"/>
          <p:cNvSpPr/>
          <p:nvPr/>
        </p:nvSpPr>
        <p:spPr>
          <a:xfrm>
            <a:off x="548640" y="4023360"/>
            <a:ext cx="5120640" cy="1874520"/>
          </a:xfrm>
          <a:prstGeom prst="roundRect">
            <a:avLst>
              <a:gd name="adj" fmla="val 4878"/>
            </a:avLst>
          </a:prstGeom>
          <a:solidFill>
            <a:srgbClr val="F4F6FB"/>
          </a:solidFill>
          <a:ln/>
          <a:effectLst>
            <a:outerShdw blurRad="101600" dist="38100" dir="5400000" algn="bl" rotWithShape="0">
              <a:srgbClr val="0F1230">
                <a:alpha val="25000"/>
              </a:srgbClr>
            </a:outerShdw>
          </a:effectLst>
        </p:spPr>
      </p:sp>
      <p:sp>
        <p:nvSpPr>
          <p:cNvPr id="13" name="Shape 11"/>
          <p:cNvSpPr/>
          <p:nvPr/>
        </p:nvSpPr>
        <p:spPr>
          <a:xfrm>
            <a:off x="822960" y="4343400"/>
            <a:ext cx="128016" cy="128016"/>
          </a:xfrm>
          <a:prstGeom prst="ellipse">
            <a:avLst/>
          </a:prstGeom>
          <a:solidFill>
            <a:srgbClr val="E8A33D"/>
          </a:solidFill>
          <a:ln/>
        </p:spPr>
      </p:sp>
      <p:sp>
        <p:nvSpPr>
          <p:cNvPr id="14" name="Text 12"/>
          <p:cNvSpPr/>
          <p:nvPr/>
        </p:nvSpPr>
        <p:spPr>
          <a:xfrm>
            <a:off x="1097280" y="4224528"/>
            <a:ext cx="4297680" cy="411480"/>
          </a:xfrm>
          <a:prstGeom prst="rect">
            <a:avLst/>
          </a:prstGeom>
          <a:noFill/>
          <a:ln/>
        </p:spPr>
        <p:txBody>
          <a:bodyPr wrap="square" rtlCol="0" anchor="ctr"/>
          <a:lstStyle/>
          <a:p>
            <a:pPr marL="0" indent="0">
              <a:buNone/>
            </a:pPr>
            <a:r>
              <a:rPr lang="en-US" sz="1500" b="1" dirty="0">
                <a:solidFill>
                  <a:srgbClr val="1A1D29"/>
                </a:solidFill>
                <a:latin typeface="Cambria" pitchFamily="34" charset="0"/>
                <a:ea typeface="Cambria" pitchFamily="34" charset="-122"/>
                <a:cs typeface="Cambria" pitchFamily="34" charset="-120"/>
              </a:rPr>
              <a:t>Validation at the door</a:t>
            </a:r>
            <a:endParaRPr lang="en-US" sz="1500" dirty="0"/>
          </a:p>
        </p:txBody>
      </p:sp>
      <p:sp>
        <p:nvSpPr>
          <p:cNvPr id="15" name="Text 13"/>
          <p:cNvSpPr/>
          <p:nvPr/>
        </p:nvSpPr>
        <p:spPr>
          <a:xfrm>
            <a:off x="1097280" y="4709160"/>
            <a:ext cx="4297680" cy="10515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Bad data (negative billing) is rejected at ingestion, not cleaned downstream after it's already caused damage.</a:t>
            </a:r>
            <a:endParaRPr lang="en-US" sz="1200" dirty="0"/>
          </a:p>
        </p:txBody>
      </p:sp>
      <p:sp>
        <p:nvSpPr>
          <p:cNvPr id="16" name="Shape 14"/>
          <p:cNvSpPr/>
          <p:nvPr/>
        </p:nvSpPr>
        <p:spPr>
          <a:xfrm>
            <a:off x="6035040" y="4023360"/>
            <a:ext cx="5120640" cy="1874520"/>
          </a:xfrm>
          <a:prstGeom prst="roundRect">
            <a:avLst>
              <a:gd name="adj" fmla="val 4878"/>
            </a:avLst>
          </a:prstGeom>
          <a:solidFill>
            <a:srgbClr val="F4F6FB"/>
          </a:solidFill>
          <a:ln/>
          <a:effectLst>
            <a:outerShdw blurRad="101600" dist="38100" dir="5400000" algn="bl" rotWithShape="0">
              <a:srgbClr val="0F1230">
                <a:alpha val="25000"/>
              </a:srgbClr>
            </a:outerShdw>
          </a:effectLst>
        </p:spPr>
      </p:sp>
      <p:sp>
        <p:nvSpPr>
          <p:cNvPr id="17" name="Shape 15"/>
          <p:cNvSpPr/>
          <p:nvPr/>
        </p:nvSpPr>
        <p:spPr>
          <a:xfrm>
            <a:off x="6309360" y="4343400"/>
            <a:ext cx="128016" cy="128016"/>
          </a:xfrm>
          <a:prstGeom prst="ellipse">
            <a:avLst/>
          </a:prstGeom>
          <a:solidFill>
            <a:srgbClr val="E8A33D"/>
          </a:solidFill>
          <a:ln/>
        </p:spPr>
      </p:sp>
      <p:sp>
        <p:nvSpPr>
          <p:cNvPr id="18" name="Text 16"/>
          <p:cNvSpPr/>
          <p:nvPr/>
        </p:nvSpPr>
        <p:spPr>
          <a:xfrm>
            <a:off x="6583680" y="4224528"/>
            <a:ext cx="4297680" cy="411480"/>
          </a:xfrm>
          <a:prstGeom prst="rect">
            <a:avLst/>
          </a:prstGeom>
          <a:noFill/>
          <a:ln/>
        </p:spPr>
        <p:txBody>
          <a:bodyPr wrap="square" rtlCol="0" anchor="ctr"/>
          <a:lstStyle/>
          <a:p>
            <a:pPr marL="0" indent="0">
              <a:buNone/>
            </a:pPr>
            <a:r>
              <a:rPr lang="en-US" sz="1500" b="1" dirty="0">
                <a:solidFill>
                  <a:srgbClr val="1A1D29"/>
                </a:solidFill>
                <a:latin typeface="Cambria" pitchFamily="34" charset="0"/>
                <a:ea typeface="Cambria" pitchFamily="34" charset="-122"/>
                <a:cs typeface="Cambria" pitchFamily="34" charset="-120"/>
              </a:rPr>
              <a:t>Idempotency is provable</a:t>
            </a:r>
            <a:endParaRPr lang="en-US" sz="1500" dirty="0"/>
          </a:p>
        </p:txBody>
      </p:sp>
      <p:sp>
        <p:nvSpPr>
          <p:cNvPr id="19" name="Text 17"/>
          <p:cNvSpPr/>
          <p:nvPr/>
        </p:nvSpPr>
        <p:spPr>
          <a:xfrm>
            <a:off x="6583680" y="4709160"/>
            <a:ext cx="4297680" cy="1051560"/>
          </a:xfrm>
          <a:prstGeom prst="rect">
            <a:avLst/>
          </a:prstGeom>
          <a:noFill/>
          <a:ln/>
        </p:spPr>
        <p:txBody>
          <a:bodyPr wrap="square" rtlCol="0" anchor="t"/>
          <a:lstStyle/>
          <a:p>
            <a:pPr marL="0" indent="0">
              <a:buNone/>
            </a:pPr>
            <a:r>
              <a:rPr lang="en-US" sz="1200" dirty="0">
                <a:solidFill>
                  <a:srgbClr val="6B7280"/>
                </a:solidFill>
                <a:latin typeface="Calibri" pitchFamily="34" charset="0"/>
                <a:ea typeface="Calibri" pitchFamily="34" charset="-122"/>
                <a:cs typeface="Calibri" pitchFamily="34" charset="-120"/>
              </a:rPr>
              <a:t>"Safe to re-run" isn't a claim — it's a test: run it twice, show the row count is unchanged.</a:t>
            </a:r>
            <a:endParaRPr lang="en-US" sz="1200" dirty="0"/>
          </a:p>
        </p:txBody>
      </p:sp>
      <p:sp>
        <p:nvSpPr>
          <p:cNvPr id="20" name="Text 18"/>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Consistent practice, applied across every lab</a:t>
            </a:r>
            <a:endParaRPr lang="en-US" sz="1000" dirty="0"/>
          </a:p>
        </p:txBody>
      </p:sp>
      <p:sp>
        <p:nvSpPr>
          <p:cNvPr id="21" name="Text 19"/>
          <p:cNvSpPr/>
          <p:nvPr/>
        </p:nvSpPr>
        <p:spPr>
          <a:xfrm>
            <a:off x="8503920" y="6537960"/>
            <a:ext cx="32004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Group 3 · Healthcare Dataset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41B4D"/>
          </a:solidFill>
          <a:ln/>
        </p:spPr>
      </p:sp>
      <p:sp>
        <p:nvSpPr>
          <p:cNvPr id="3" name="Shape 1"/>
          <p:cNvSpPr/>
          <p:nvPr/>
        </p:nvSpPr>
        <p:spPr>
          <a:xfrm>
            <a:off x="9875520" y="4114800"/>
            <a:ext cx="4572000" cy="4572000"/>
          </a:xfrm>
          <a:prstGeom prst="ellipse">
            <a:avLst/>
          </a:prstGeom>
          <a:solidFill>
            <a:srgbClr val="141B4D"/>
          </a:solidFill>
          <a:ln/>
        </p:spPr>
      </p:sp>
      <p:sp>
        <p:nvSpPr>
          <p:cNvPr id="4" name="Text 2"/>
          <p:cNvSpPr/>
          <p:nvPr/>
        </p:nvSpPr>
        <p:spPr>
          <a:xfrm>
            <a:off x="731520" y="2377440"/>
            <a:ext cx="91440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731520" y="3383280"/>
            <a:ext cx="822960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Questions welcome — schema, ingestion logic, or what's next in the pipeline.</a:t>
            </a:r>
            <a:endParaRPr lang="en-US" sz="1600" dirty="0"/>
          </a:p>
        </p:txBody>
      </p:sp>
      <p:sp>
        <p:nvSpPr>
          <p:cNvPr id="6" name="Text 4"/>
          <p:cNvSpPr/>
          <p:nvPr/>
        </p:nvSpPr>
        <p:spPr>
          <a:xfrm>
            <a:off x="731520" y="4114800"/>
            <a:ext cx="8229600" cy="365760"/>
          </a:xfrm>
          <a:prstGeom prst="rect">
            <a:avLst/>
          </a:prstGeom>
          <a:noFill/>
          <a:ln/>
        </p:spPr>
        <p:txBody>
          <a:bodyPr wrap="square" rtlCol="0" anchor="ctr"/>
          <a:lstStyle/>
          <a:p>
            <a:pPr marL="0" indent="0">
              <a:buNone/>
            </a:pPr>
            <a:r>
              <a:rPr lang="en-US" sz="1300" dirty="0">
                <a:solidFill>
                  <a:srgbClr val="E8A33D"/>
                </a:solidFill>
                <a:latin typeface="Calibri" pitchFamily="34" charset="0"/>
                <a:ea typeface="Calibri" pitchFamily="34" charset="-122"/>
                <a:cs typeface="Calibri" pitchFamily="34" charset="-120"/>
              </a:rPr>
              <a:t>github.com/lyimoa/Data-Engineering-Group-3-New-Dataset-</a:t>
            </a:r>
            <a:endParaRPr lang="en-US" sz="1300" dirty="0"/>
          </a:p>
        </p:txBody>
      </p:sp>
      <p:sp>
        <p:nvSpPr>
          <p:cNvPr id="7" name="Text 5"/>
          <p:cNvSpPr/>
          <p:nvPr/>
        </p:nvSpPr>
        <p:spPr>
          <a:xfrm>
            <a:off x="731520" y="6126480"/>
            <a:ext cx="8229600" cy="320040"/>
          </a:xfrm>
          <a:prstGeom prst="rect">
            <a:avLst/>
          </a:prstGeom>
          <a:noFill/>
          <a:ln/>
        </p:spPr>
        <p:txBody>
          <a:bodyPr wrap="square" rtlCol="0" anchor="ctr"/>
          <a:lstStyle/>
          <a:p>
            <a:pPr marL="0" indent="0">
              <a:buNone/>
            </a:pPr>
            <a:r>
              <a:rPr lang="en-US" sz="1100" kern="0" spc="100" dirty="0">
                <a:solidFill>
                  <a:srgbClr val="8892B0"/>
                </a:solidFill>
                <a:latin typeface="Calibri" pitchFamily="34" charset="0"/>
                <a:ea typeface="Calibri" pitchFamily="34" charset="-122"/>
                <a:cs typeface="Calibri" pitchFamily="34" charset="-120"/>
              </a:rPr>
              <a:t>GROUP 3 · DSAI 6226 · DATA ENGINEERING AND ANALYTICS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1241</Words>
  <Application>Microsoft Macintosh PowerPoint</Application>
  <PresentationFormat>Widescreen</PresentationFormat>
  <Paragraphs>193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Allen Lyimo</cp:lastModifiedBy>
  <cp:revision>3</cp:revision>
  <dcterms:created xsi:type="dcterms:W3CDTF">2026-08-10T23:27:18Z</dcterms:created>
  <dcterms:modified xsi:type="dcterms:W3CDTF">2026-08-10T23:54:20Z</dcterms:modified>
</cp:coreProperties>
</file>